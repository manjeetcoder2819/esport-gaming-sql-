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1" r:id="rId1"/>
  </p:sldMasterIdLst>
  <p:notesMasterIdLst>
    <p:notesMasterId r:id="rId31"/>
  </p:notesMasterIdLst>
  <p:sldIdLst>
    <p:sldId id="256" r:id="rId2"/>
    <p:sldId id="258" r:id="rId3"/>
    <p:sldId id="257" r:id="rId4"/>
    <p:sldId id="259" r:id="rId5"/>
    <p:sldId id="260" r:id="rId6"/>
    <p:sldId id="263" r:id="rId7"/>
    <p:sldId id="261" r:id="rId8"/>
    <p:sldId id="272" r:id="rId9"/>
    <p:sldId id="276" r:id="rId10"/>
    <p:sldId id="273" r:id="rId11"/>
    <p:sldId id="274" r:id="rId12"/>
    <p:sldId id="275" r:id="rId13"/>
    <p:sldId id="271" r:id="rId14"/>
    <p:sldId id="262" r:id="rId15"/>
    <p:sldId id="265" r:id="rId16"/>
    <p:sldId id="268" r:id="rId17"/>
    <p:sldId id="266" r:id="rId18"/>
    <p:sldId id="267" r:id="rId19"/>
    <p:sldId id="269" r:id="rId20"/>
    <p:sldId id="270" r:id="rId21"/>
    <p:sldId id="277" r:id="rId22"/>
    <p:sldId id="278" r:id="rId23"/>
    <p:sldId id="279" r:id="rId24"/>
    <p:sldId id="280" r:id="rId25"/>
    <p:sldId id="281" r:id="rId26"/>
    <p:sldId id="282" r:id="rId27"/>
    <p:sldId id="283" r:id="rId28"/>
    <p:sldId id="264"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99289B-C372-39A3-2F92-B457012B30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0F419D13-A802-EFC9-57DE-B9A00924B05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56D26B-B133-4B90-BF19-1B71328F7147}" type="datetimeFigureOut">
              <a:rPr lang="en-IN" smtClean="0"/>
              <a:t>23-11-2025</a:t>
            </a:fld>
            <a:endParaRPr lang="en-IN"/>
          </a:p>
        </p:txBody>
      </p:sp>
      <p:sp>
        <p:nvSpPr>
          <p:cNvPr id="4" name="Slide Image Placeholder 3">
            <a:extLst>
              <a:ext uri="{FF2B5EF4-FFF2-40B4-BE49-F238E27FC236}">
                <a16:creationId xmlns:a16="http://schemas.microsoft.com/office/drawing/2014/main" id="{25F5D822-1B57-64DC-2E96-4924F43F254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a:extLst>
              <a:ext uri="{FF2B5EF4-FFF2-40B4-BE49-F238E27FC236}">
                <a16:creationId xmlns:a16="http://schemas.microsoft.com/office/drawing/2014/main" id="{94AE0C2E-545F-83A0-35D7-430F331F593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a:extLst>
              <a:ext uri="{FF2B5EF4-FFF2-40B4-BE49-F238E27FC236}">
                <a16:creationId xmlns:a16="http://schemas.microsoft.com/office/drawing/2014/main" id="{37856C02-0C53-EAB3-3026-DD3779BBB251}"/>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a:extLst>
              <a:ext uri="{FF2B5EF4-FFF2-40B4-BE49-F238E27FC236}">
                <a16:creationId xmlns:a16="http://schemas.microsoft.com/office/drawing/2014/main" id="{EF1E77F8-2C07-F320-545A-17C10BE2E801}"/>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CDEB4-574F-467F-9C8A-BD92C675B02C}"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088B52-63B4-411D-8144-81FFD1B670A7}" type="slidenum">
              <a:rPr lang="en-IN" smtClean="0"/>
              <a:t>28</a:t>
            </a:fld>
            <a:endParaRPr lang="en-IN"/>
          </a:p>
        </p:txBody>
      </p:sp>
    </p:spTree>
    <p:extLst>
      <p:ext uri="{BB962C8B-B14F-4D97-AF65-F5344CB8AC3E}">
        <p14:creationId xmlns:p14="http://schemas.microsoft.com/office/powerpoint/2010/main" val="210400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8C8AA-FB38-4D23-A8E7-2054555863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A92C46C-2400-B8F2-665D-1A44DF7841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A168B75-0404-A879-CD0B-37E75149E580}"/>
              </a:ext>
            </a:extLst>
          </p:cNvPr>
          <p:cNvSpPr>
            <a:spLocks noGrp="1"/>
          </p:cNvSpPr>
          <p:nvPr>
            <p:ph type="dt" sz="half" idx="10"/>
          </p:nvPr>
        </p:nvSpPr>
        <p:spPr/>
        <p:txBody>
          <a:bodyPr/>
          <a:lstStyle/>
          <a:p>
            <a:fld id="{9AB3A824-1A51-4B26-AD58-A6D8E14F6C04}" type="datetimeFigureOut">
              <a:rPr lang="en-US" smtClean="0"/>
              <a:t>11/23/2025</a:t>
            </a:fld>
            <a:endParaRPr lang="en-US" dirty="0"/>
          </a:p>
        </p:txBody>
      </p:sp>
      <p:sp>
        <p:nvSpPr>
          <p:cNvPr id="5" name="Footer Placeholder 4">
            <a:extLst>
              <a:ext uri="{FF2B5EF4-FFF2-40B4-BE49-F238E27FC236}">
                <a16:creationId xmlns:a16="http://schemas.microsoft.com/office/drawing/2014/main" id="{364D48B8-DE55-AC0E-6718-E05C6CF8D046}"/>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D3EB5729-F52A-BF87-E7E3-2608EC5FFEDE}"/>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09639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27712-690E-9616-1CB2-DFF9C113E9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1EF471-DBBF-BBF8-9347-F370523088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303383-B577-065B-7AA9-9F367C06FFD9}"/>
              </a:ext>
            </a:extLst>
          </p:cNvPr>
          <p:cNvSpPr>
            <a:spLocks noGrp="1"/>
          </p:cNvSpPr>
          <p:nvPr>
            <p:ph type="dt" sz="half" idx="10"/>
          </p:nvPr>
        </p:nvSpPr>
        <p:spPr/>
        <p:txBody>
          <a:bodyPr/>
          <a:lstStyle/>
          <a:p>
            <a:fld id="{97D162C4-EDD9-4389-A98B-B87ECEA2A816}" type="datetimeFigureOut">
              <a:rPr lang="en-US" smtClean="0"/>
              <a:t>11/23/2025</a:t>
            </a:fld>
            <a:endParaRPr lang="en-US" dirty="0"/>
          </a:p>
        </p:txBody>
      </p:sp>
      <p:sp>
        <p:nvSpPr>
          <p:cNvPr id="5" name="Footer Placeholder 4">
            <a:extLst>
              <a:ext uri="{FF2B5EF4-FFF2-40B4-BE49-F238E27FC236}">
                <a16:creationId xmlns:a16="http://schemas.microsoft.com/office/drawing/2014/main" id="{57BD3BEE-8170-7655-4D8C-6025C5D092D1}"/>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7CE1008D-7EA4-C9BA-F2FC-E050F3BA0078}"/>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4190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87889-BFD4-5982-A0E1-F7C1BAD375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D268AAA-6D9A-D902-95A1-FDD8B94420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3E6D54-5082-21BF-13FA-338417A1CD78}"/>
              </a:ext>
            </a:extLst>
          </p:cNvPr>
          <p:cNvSpPr>
            <a:spLocks noGrp="1"/>
          </p:cNvSpPr>
          <p:nvPr>
            <p:ph type="dt" sz="half" idx="10"/>
          </p:nvPr>
        </p:nvSpPr>
        <p:spPr/>
        <p:txBody>
          <a:bodyPr/>
          <a:lstStyle/>
          <a:p>
            <a:fld id="{3E5059C3-6A89-4494-99FF-5A4D6FFD50EB}" type="datetimeFigureOut">
              <a:rPr lang="en-US" smtClean="0"/>
              <a:t>11/23/2025</a:t>
            </a:fld>
            <a:endParaRPr lang="en-US" dirty="0"/>
          </a:p>
        </p:txBody>
      </p:sp>
      <p:sp>
        <p:nvSpPr>
          <p:cNvPr id="5" name="Footer Placeholder 4">
            <a:extLst>
              <a:ext uri="{FF2B5EF4-FFF2-40B4-BE49-F238E27FC236}">
                <a16:creationId xmlns:a16="http://schemas.microsoft.com/office/drawing/2014/main" id="{D50B50B2-BAED-A2BA-F26C-0E9365423719}"/>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12D4C727-3D89-B616-5027-A0A049971F50}"/>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76632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F958F-2084-51BC-52E1-F0DB0D6B1B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B2131F-AC54-DD7E-1332-EBD6AEB12A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18D085-4B1B-5679-DC89-F92481C744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50C422-E6F0-F298-35E9-54AEE7D8A421}"/>
              </a:ext>
            </a:extLst>
          </p:cNvPr>
          <p:cNvSpPr>
            <a:spLocks noGrp="1"/>
          </p:cNvSpPr>
          <p:nvPr>
            <p:ph type="dt" sz="half" idx="10"/>
          </p:nvPr>
        </p:nvSpPr>
        <p:spPr/>
        <p:txBody>
          <a:bodyPr/>
          <a:lstStyle/>
          <a:p>
            <a:fld id="{CA954B2F-12DE-47F5-8894-472B206D2E1E}" type="datetimeFigureOut">
              <a:rPr lang="en-US" smtClean="0"/>
              <a:t>11/23/2025</a:t>
            </a:fld>
            <a:endParaRPr lang="en-US" dirty="0"/>
          </a:p>
        </p:txBody>
      </p:sp>
      <p:sp>
        <p:nvSpPr>
          <p:cNvPr id="6" name="Footer Placeholder 5">
            <a:extLst>
              <a:ext uri="{FF2B5EF4-FFF2-40B4-BE49-F238E27FC236}">
                <a16:creationId xmlns:a16="http://schemas.microsoft.com/office/drawing/2014/main" id="{CAC97CB0-3D26-E386-B6E2-13D092DF9C81}"/>
              </a:ext>
            </a:extLst>
          </p:cNvPr>
          <p:cNvSpPr>
            <a:spLocks noGrp="1"/>
          </p:cNvSpPr>
          <p:nvPr>
            <p:ph type="ftr" sz="quarter" idx="11"/>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B4C6FA72-29B3-CD8C-28AF-CDA21B496C8A}"/>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65450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8DBA4-1B71-95B6-28A9-A97073D32EE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50B5A5-7D44-B880-9D94-BC4B7C778A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452708-0873-564C-7CFE-8B5FD91944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68E3C5B-EBFA-2434-F907-2B2DFB7359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CA4041-DAE4-4792-2160-6F5D8B081D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56258E4-37B7-34C6-71BF-CB1EB10BEA3C}"/>
              </a:ext>
            </a:extLst>
          </p:cNvPr>
          <p:cNvSpPr>
            <a:spLocks noGrp="1"/>
          </p:cNvSpPr>
          <p:nvPr>
            <p:ph type="dt" sz="half" idx="10"/>
          </p:nvPr>
        </p:nvSpPr>
        <p:spPr/>
        <p:txBody>
          <a:bodyPr/>
          <a:lstStyle/>
          <a:p>
            <a:fld id="{3F30E46F-7819-4ACF-B48B-48222C2ACC88}" type="datetimeFigureOut">
              <a:rPr lang="en-US" smtClean="0"/>
              <a:t>11/23/2025</a:t>
            </a:fld>
            <a:endParaRPr lang="en-US" dirty="0"/>
          </a:p>
        </p:txBody>
      </p:sp>
      <p:sp>
        <p:nvSpPr>
          <p:cNvPr id="8" name="Footer Placeholder 7">
            <a:extLst>
              <a:ext uri="{FF2B5EF4-FFF2-40B4-BE49-F238E27FC236}">
                <a16:creationId xmlns:a16="http://schemas.microsoft.com/office/drawing/2014/main" id="{EA450C61-B19D-5081-A9CC-63EDC6E0699A}"/>
              </a:ext>
            </a:extLst>
          </p:cNvPr>
          <p:cNvSpPr>
            <a:spLocks noGrp="1"/>
          </p:cNvSpPr>
          <p:nvPr>
            <p:ph type="ftr" sz="quarter" idx="11"/>
          </p:nvPr>
        </p:nvSpPr>
        <p:spPr/>
        <p:txBody>
          <a:bodyPr/>
          <a:lstStyle/>
          <a:p>
            <a:r>
              <a:rPr lang="en-US"/>
              <a:t>
              </a:t>
            </a:r>
            <a:endParaRPr lang="en-US" dirty="0"/>
          </a:p>
        </p:txBody>
      </p:sp>
      <p:sp>
        <p:nvSpPr>
          <p:cNvPr id="9" name="Slide Number Placeholder 8">
            <a:extLst>
              <a:ext uri="{FF2B5EF4-FFF2-40B4-BE49-F238E27FC236}">
                <a16:creationId xmlns:a16="http://schemas.microsoft.com/office/drawing/2014/main" id="{95C72A11-0A87-D459-99FA-5449DD084ADA}"/>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22617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54FA-8BE2-0A1B-0619-B519EE83BA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0ECC80-17B9-052E-C2A6-ABE639CB47FA}"/>
              </a:ext>
            </a:extLst>
          </p:cNvPr>
          <p:cNvSpPr>
            <a:spLocks noGrp="1"/>
          </p:cNvSpPr>
          <p:nvPr>
            <p:ph type="dt" sz="half" idx="10"/>
          </p:nvPr>
        </p:nvSpPr>
        <p:spPr/>
        <p:txBody>
          <a:bodyPr/>
          <a:lstStyle/>
          <a:p>
            <a:fld id="{1FAF3416-4057-4DAA-829D-4CA07428D088}" type="datetimeFigureOut">
              <a:rPr lang="en-US" smtClean="0"/>
              <a:t>11/23/2025</a:t>
            </a:fld>
            <a:endParaRPr lang="en-US" dirty="0"/>
          </a:p>
        </p:txBody>
      </p:sp>
      <p:sp>
        <p:nvSpPr>
          <p:cNvPr id="4" name="Footer Placeholder 3">
            <a:extLst>
              <a:ext uri="{FF2B5EF4-FFF2-40B4-BE49-F238E27FC236}">
                <a16:creationId xmlns:a16="http://schemas.microsoft.com/office/drawing/2014/main" id="{271BC8D8-DC98-A904-CE1A-F79111774765}"/>
              </a:ext>
            </a:extLst>
          </p:cNvPr>
          <p:cNvSpPr>
            <a:spLocks noGrp="1"/>
          </p:cNvSpPr>
          <p:nvPr>
            <p:ph type="ftr" sz="quarter" idx="11"/>
          </p:nvPr>
        </p:nvSpPr>
        <p:spPr/>
        <p:txBody>
          <a:bodyPr/>
          <a:lstStyle/>
          <a:p>
            <a:r>
              <a:rPr lang="en-US"/>
              <a:t>
              </a:t>
            </a:r>
            <a:endParaRPr lang="en-US" dirty="0"/>
          </a:p>
        </p:txBody>
      </p:sp>
      <p:sp>
        <p:nvSpPr>
          <p:cNvPr id="5" name="Slide Number Placeholder 4">
            <a:extLst>
              <a:ext uri="{FF2B5EF4-FFF2-40B4-BE49-F238E27FC236}">
                <a16:creationId xmlns:a16="http://schemas.microsoft.com/office/drawing/2014/main" id="{3E32F1D8-05DB-CB8F-30E8-31E60E3FD68A}"/>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03863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06B459-59BB-75BF-56BB-056AD81526D7}"/>
              </a:ext>
            </a:extLst>
          </p:cNvPr>
          <p:cNvSpPr>
            <a:spLocks noGrp="1"/>
          </p:cNvSpPr>
          <p:nvPr>
            <p:ph type="dt" sz="half" idx="10"/>
          </p:nvPr>
        </p:nvSpPr>
        <p:spPr/>
        <p:txBody>
          <a:bodyPr/>
          <a:lstStyle/>
          <a:p>
            <a:fld id="{921D9284-D300-4297-87F7-E791DCC15DB1}" type="datetimeFigureOut">
              <a:rPr lang="en-US" smtClean="0"/>
              <a:t>11/23/2025</a:t>
            </a:fld>
            <a:endParaRPr lang="en-US" dirty="0"/>
          </a:p>
        </p:txBody>
      </p:sp>
      <p:sp>
        <p:nvSpPr>
          <p:cNvPr id="3" name="Footer Placeholder 2">
            <a:extLst>
              <a:ext uri="{FF2B5EF4-FFF2-40B4-BE49-F238E27FC236}">
                <a16:creationId xmlns:a16="http://schemas.microsoft.com/office/drawing/2014/main" id="{0D0FCD28-F570-92F5-8F40-621E8008EAD9}"/>
              </a:ext>
            </a:extLst>
          </p:cNvPr>
          <p:cNvSpPr>
            <a:spLocks noGrp="1"/>
          </p:cNvSpPr>
          <p:nvPr>
            <p:ph type="ftr" sz="quarter" idx="11"/>
          </p:nvPr>
        </p:nvSpPr>
        <p:spPr/>
        <p:txBody>
          <a:bodyPr/>
          <a:lstStyle/>
          <a:p>
            <a:r>
              <a:rPr lang="en-US"/>
              <a:t>
              </a:t>
            </a:r>
            <a:endParaRPr lang="en-US" dirty="0"/>
          </a:p>
        </p:txBody>
      </p:sp>
      <p:sp>
        <p:nvSpPr>
          <p:cNvPr id="4" name="Slide Number Placeholder 3">
            <a:extLst>
              <a:ext uri="{FF2B5EF4-FFF2-40B4-BE49-F238E27FC236}">
                <a16:creationId xmlns:a16="http://schemas.microsoft.com/office/drawing/2014/main" id="{53A24211-C177-65ED-7C3F-71F907D1CF3C}"/>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36112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E16F2-CBCB-C51A-D8BD-71F7357D7F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D506B5-8BC2-E734-3D1D-212CE8DD3B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B51F52-E7C8-E624-5D26-B08AA68646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73A9A8-A33B-F5E0-965E-A6CC99F57687}"/>
              </a:ext>
            </a:extLst>
          </p:cNvPr>
          <p:cNvSpPr>
            <a:spLocks noGrp="1"/>
          </p:cNvSpPr>
          <p:nvPr>
            <p:ph type="dt" sz="half" idx="10"/>
          </p:nvPr>
        </p:nvSpPr>
        <p:spPr/>
        <p:txBody>
          <a:bodyPr/>
          <a:lstStyle/>
          <a:p>
            <a:fld id="{37D525BB-DA17-4BA0-B3C8-3AC3ABC827E6}" type="datetimeFigureOut">
              <a:rPr lang="en-US" smtClean="0"/>
              <a:t>11/23/2025</a:t>
            </a:fld>
            <a:endParaRPr lang="en-US" dirty="0"/>
          </a:p>
        </p:txBody>
      </p:sp>
      <p:sp>
        <p:nvSpPr>
          <p:cNvPr id="6" name="Footer Placeholder 5">
            <a:extLst>
              <a:ext uri="{FF2B5EF4-FFF2-40B4-BE49-F238E27FC236}">
                <a16:creationId xmlns:a16="http://schemas.microsoft.com/office/drawing/2014/main" id="{52459FA2-7114-6C81-F4DD-9022FF695DB0}"/>
              </a:ext>
            </a:extLst>
          </p:cNvPr>
          <p:cNvSpPr>
            <a:spLocks noGrp="1"/>
          </p:cNvSpPr>
          <p:nvPr>
            <p:ph type="ftr" sz="quarter" idx="11"/>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ED20C105-A4CC-5CE4-5DCF-0A6CDBFDD5FE}"/>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31444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DA79E-2D76-195D-9D41-75DCB78F9B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B2253F-DA6C-469C-7E59-4F0CA98835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49ECB20-22E2-9219-A4DB-84A2C305D6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15BF94-185F-F359-4F0F-3D203FFC642D}"/>
              </a:ext>
            </a:extLst>
          </p:cNvPr>
          <p:cNvSpPr>
            <a:spLocks noGrp="1"/>
          </p:cNvSpPr>
          <p:nvPr>
            <p:ph type="dt" sz="half" idx="10"/>
          </p:nvPr>
        </p:nvSpPr>
        <p:spPr/>
        <p:txBody>
          <a:bodyPr/>
          <a:lstStyle/>
          <a:p>
            <a:fld id="{B16C4C9A-3960-41CF-A4E9-2A8FB932454B}" type="datetimeFigureOut">
              <a:rPr lang="en-US" smtClean="0"/>
              <a:t>11/23/2025</a:t>
            </a:fld>
            <a:endParaRPr lang="en-US" dirty="0"/>
          </a:p>
        </p:txBody>
      </p:sp>
      <p:sp>
        <p:nvSpPr>
          <p:cNvPr id="6" name="Footer Placeholder 5">
            <a:extLst>
              <a:ext uri="{FF2B5EF4-FFF2-40B4-BE49-F238E27FC236}">
                <a16:creationId xmlns:a16="http://schemas.microsoft.com/office/drawing/2014/main" id="{D39C7FFB-3BF5-C786-3DD1-B2FC651D6CB0}"/>
              </a:ext>
            </a:extLst>
          </p:cNvPr>
          <p:cNvSpPr>
            <a:spLocks noGrp="1"/>
          </p:cNvSpPr>
          <p:nvPr>
            <p:ph type="ftr" sz="quarter" idx="11"/>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B7B64039-CE0C-9537-0AB3-7E9E96B79503}"/>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39905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5F32D-926D-7009-7F99-5FF805D1C2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9B5B95-A8B0-E58C-2878-FA0BEA887D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44E554-DF2E-9D21-E5F2-431EFB91D558}"/>
              </a:ext>
            </a:extLst>
          </p:cNvPr>
          <p:cNvSpPr>
            <a:spLocks noGrp="1"/>
          </p:cNvSpPr>
          <p:nvPr>
            <p:ph type="dt" sz="half" idx="10"/>
          </p:nvPr>
        </p:nvSpPr>
        <p:spPr/>
        <p:txBody>
          <a:bodyPr/>
          <a:lstStyle/>
          <a:p>
            <a:fld id="{D857E33E-8B18-4087-B112-809917729534}" type="datetimeFigureOut">
              <a:rPr lang="en-US" smtClean="0"/>
              <a:t>11/23/2025</a:t>
            </a:fld>
            <a:endParaRPr lang="en-US" dirty="0"/>
          </a:p>
        </p:txBody>
      </p:sp>
      <p:sp>
        <p:nvSpPr>
          <p:cNvPr id="5" name="Footer Placeholder 4">
            <a:extLst>
              <a:ext uri="{FF2B5EF4-FFF2-40B4-BE49-F238E27FC236}">
                <a16:creationId xmlns:a16="http://schemas.microsoft.com/office/drawing/2014/main" id="{7991E8A7-0505-FD62-0B76-3ADDBA33E39E}"/>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42DAE3DB-4C27-0E51-183A-8A6141104B05}"/>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56863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632CF7-FE91-641C-E0A3-6146D64A56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E8BFC8-6828-544A-FFFC-2B9067F55C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F4F906-351C-8BA2-116C-F90EE9DA086E}"/>
              </a:ext>
            </a:extLst>
          </p:cNvPr>
          <p:cNvSpPr>
            <a:spLocks noGrp="1"/>
          </p:cNvSpPr>
          <p:nvPr>
            <p:ph type="dt" sz="half" idx="10"/>
          </p:nvPr>
        </p:nvSpPr>
        <p:spPr/>
        <p:txBody>
          <a:bodyPr/>
          <a:lstStyle/>
          <a:p>
            <a:fld id="{D3FFE419-2371-464F-8239-3959401C3561}" type="datetimeFigureOut">
              <a:rPr lang="en-US" smtClean="0"/>
              <a:t>11/23/2025</a:t>
            </a:fld>
            <a:endParaRPr lang="en-US" dirty="0"/>
          </a:p>
        </p:txBody>
      </p:sp>
      <p:sp>
        <p:nvSpPr>
          <p:cNvPr id="5" name="Footer Placeholder 4">
            <a:extLst>
              <a:ext uri="{FF2B5EF4-FFF2-40B4-BE49-F238E27FC236}">
                <a16:creationId xmlns:a16="http://schemas.microsoft.com/office/drawing/2014/main" id="{9FFE3731-BAF5-0BCF-A1E2-454991ACCC2E}"/>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D6B048D0-8024-702C-F975-743D72998580}"/>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065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3205BF-E2BD-34D8-B204-B9F0CB3760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1CC66E-AEFC-65EF-C6C0-BDD25F029C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44DBE5-F123-9A6A-EFB9-A4BFE85F3F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BC1C18-307B-4F68-A007-B5B542270E8D}" type="datetimeFigureOut">
              <a:rPr lang="en-US" smtClean="0"/>
              <a:t>11/23/2025</a:t>
            </a:fld>
            <a:endParaRPr lang="en-US" dirty="0"/>
          </a:p>
        </p:txBody>
      </p:sp>
      <p:sp>
        <p:nvSpPr>
          <p:cNvPr id="5" name="Footer Placeholder 4">
            <a:extLst>
              <a:ext uri="{FF2B5EF4-FFF2-40B4-BE49-F238E27FC236}">
                <a16:creationId xmlns:a16="http://schemas.microsoft.com/office/drawing/2014/main" id="{2BB2CDAE-03FF-D409-C09C-6DE9F0A17C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a:t>
            </a:r>
            <a:endParaRPr lang="en-US" dirty="0"/>
          </a:p>
        </p:txBody>
      </p:sp>
      <p:sp>
        <p:nvSpPr>
          <p:cNvPr id="6" name="Slide Number Placeholder 5">
            <a:extLst>
              <a:ext uri="{FF2B5EF4-FFF2-40B4-BE49-F238E27FC236}">
                <a16:creationId xmlns:a16="http://schemas.microsoft.com/office/drawing/2014/main" id="{635A83C5-3B15-FDCD-C286-64946BB05F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40915889"/>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Esport Logo Human Character Playing Game Vector, Illustration, Gaming,  Human PNG and Vector with Transparent Background for Free Download">
            <a:extLst>
              <a:ext uri="{FF2B5EF4-FFF2-40B4-BE49-F238E27FC236}">
                <a16:creationId xmlns:a16="http://schemas.microsoft.com/office/drawing/2014/main" id="{2527F6C9-E804-0BC9-F272-668A5EAF939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0" name="Picture 6" descr="Rounded banner design | Premium Vector">
            <a:extLst>
              <a:ext uri="{FF2B5EF4-FFF2-40B4-BE49-F238E27FC236}">
                <a16:creationId xmlns:a16="http://schemas.microsoft.com/office/drawing/2014/main" id="{60C15BBB-D58D-F0AA-C9CC-176872E69F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7F36C56-644D-ECDE-E36F-2AEE9B73BC1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3206521" y="728662"/>
            <a:ext cx="5072062" cy="5095875"/>
          </a:xfrm>
          <a:prstGeom prst="rect">
            <a:avLst/>
          </a:prstGeom>
          <a:ln>
            <a:noFill/>
          </a:ln>
        </p:spPr>
      </p:pic>
      <p:pic>
        <p:nvPicPr>
          <p:cNvPr id="2" name="Picture 8">
            <a:extLst>
              <a:ext uri="{FF2B5EF4-FFF2-40B4-BE49-F238E27FC236}">
                <a16:creationId xmlns:a16="http://schemas.microsoft.com/office/drawing/2014/main" id="{8569DD3C-D57E-204C-4EB3-1C5FFE400712}"/>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0520" b="10520"/>
          <a:stretch>
            <a:fillRect/>
          </a:stretch>
        </p:blipFill>
        <p:spPr bwMode="auto">
          <a:xfrm>
            <a:off x="10803143" y="134153"/>
            <a:ext cx="855922" cy="7469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149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 calcmode="lin" valueType="num">
                                      <p:cBhvr additive="base">
                                        <p:cTn id="7" dur="500" fill="hold"/>
                                        <p:tgtEl>
                                          <p:spTgt spid="1030"/>
                                        </p:tgtEl>
                                        <p:attrNameLst>
                                          <p:attrName>ppt_x</p:attrName>
                                        </p:attrNameLst>
                                      </p:cBhvr>
                                      <p:tavLst>
                                        <p:tav tm="0">
                                          <p:val>
                                            <p:strVal val="#ppt_x"/>
                                          </p:val>
                                        </p:tav>
                                        <p:tav tm="100000">
                                          <p:val>
                                            <p:strVal val="#ppt_x"/>
                                          </p:val>
                                        </p:tav>
                                      </p:tavLst>
                                    </p:anim>
                                    <p:anim calcmode="lin" valueType="num">
                                      <p:cBhvr additive="base">
                                        <p:cTn id="8" dur="500" fill="hold"/>
                                        <p:tgtEl>
                                          <p:spTgt spid="10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nodeType="clickEffect">
                                  <p:stCondLst>
                                    <p:cond delay="0"/>
                                  </p:stCondLst>
                                  <p:childTnLst>
                                    <p:animEffect transition="out" filter="fade">
                                      <p:cBhvr>
                                        <p:cTn id="12" dur="500" tmFilter="0, 0; .2, .5; .8, .5; 1, 0"/>
                                        <p:tgtEl>
                                          <p:spTgt spid="6"/>
                                        </p:tgtEl>
                                      </p:cBhvr>
                                    </p:animEffect>
                                    <p:animScale>
                                      <p:cBhvr>
                                        <p:cTn id="13" dur="250" autoRev="1" fill="hold"/>
                                        <p:tgtEl>
                                          <p:spTgt spid="6"/>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3C631B-EE7A-E20A-D28A-3C9E6CBC06CE}"/>
              </a:ext>
            </a:extLst>
          </p:cNvPr>
          <p:cNvSpPr>
            <a:spLocks noGrp="1"/>
          </p:cNvSpPr>
          <p:nvPr>
            <p:ph type="title"/>
          </p:nvPr>
        </p:nvSpPr>
        <p:spPr>
          <a:xfrm>
            <a:off x="839788" y="457201"/>
            <a:ext cx="10512424" cy="531812"/>
          </a:xfrm>
          <a:solidFill>
            <a:schemeClr val="accent4">
              <a:lumMod val="20000"/>
              <a:lumOff val="80000"/>
            </a:schemeClr>
          </a:solidFill>
          <a:ln>
            <a:solidFill>
              <a:schemeClr val="accent1">
                <a:lumMod val="50000"/>
              </a:schemeClr>
            </a:solidFill>
          </a:ln>
        </p:spPr>
        <p:txBody>
          <a:bodyPr>
            <a:normAutofit/>
          </a:bodyPr>
          <a:lstStyle/>
          <a:p>
            <a:pPr algn="ctr"/>
            <a:r>
              <a:rPr lang="en-US" sz="2400" dirty="0">
                <a:ln w="0">
                  <a:solidFill>
                    <a:schemeClr val="accent1">
                      <a:lumMod val="50000"/>
                    </a:schemeClr>
                  </a:solidFill>
                </a:ln>
                <a:solidFill>
                  <a:srgbClr val="002060"/>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TITLE :-</a:t>
            </a:r>
            <a:r>
              <a:rPr lang="en-IN" sz="2400" dirty="0">
                <a:ln w="0">
                  <a:solidFill>
                    <a:schemeClr val="accent1">
                      <a:lumMod val="50000"/>
                    </a:schemeClr>
                  </a:solidFill>
                </a:ln>
                <a:solidFill>
                  <a:srgbClr val="002060"/>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ESPORTS MANAGEMENT SYSTEM </a:t>
            </a:r>
          </a:p>
        </p:txBody>
      </p:sp>
      <p:sp>
        <p:nvSpPr>
          <p:cNvPr id="9" name="Text Placeholder 8">
            <a:extLst>
              <a:ext uri="{FF2B5EF4-FFF2-40B4-BE49-F238E27FC236}">
                <a16:creationId xmlns:a16="http://schemas.microsoft.com/office/drawing/2014/main" id="{14646D8D-9D78-2142-F400-2295FA8FFB03}"/>
              </a:ext>
            </a:extLst>
          </p:cNvPr>
          <p:cNvSpPr>
            <a:spLocks noGrp="1"/>
          </p:cNvSpPr>
          <p:nvPr>
            <p:ph type="body" sz="half" idx="2"/>
          </p:nvPr>
        </p:nvSpPr>
        <p:spPr>
          <a:xfrm>
            <a:off x="6775374" y="4045030"/>
            <a:ext cx="4863854" cy="2094367"/>
          </a:xfrm>
          <a:solidFill>
            <a:schemeClr val="accent4">
              <a:lumMod val="20000"/>
              <a:lumOff val="80000"/>
            </a:schemeClr>
          </a:solidFill>
          <a:ln>
            <a:solidFill>
              <a:schemeClr val="accent1">
                <a:lumMod val="50000"/>
              </a:schemeClr>
            </a:solidFill>
          </a:ln>
        </p:spPr>
        <p:txBody>
          <a:bodyPr/>
          <a:lstStyle/>
          <a:p>
            <a:endParaRPr lang="en-US" dirty="0"/>
          </a:p>
          <a:p>
            <a:endParaRPr lang="en-IN" dirty="0"/>
          </a:p>
          <a:p>
            <a:endParaRPr lang="en-IN" dirty="0"/>
          </a:p>
          <a:p>
            <a:r>
              <a:rPr lang="en-IN" sz="1800" b="1" i="1" dirty="0"/>
              <a:t>Presented by:-  Manjeet Govind Gupta</a:t>
            </a:r>
          </a:p>
        </p:txBody>
      </p:sp>
      <p:pic>
        <p:nvPicPr>
          <p:cNvPr id="1032" name="Picture 8" descr="Esport Style Logo Design Colorfull ...">
            <a:extLst>
              <a:ext uri="{FF2B5EF4-FFF2-40B4-BE49-F238E27FC236}">
                <a16:creationId xmlns:a16="http://schemas.microsoft.com/office/drawing/2014/main" id="{8EF01B57-8E20-9FAA-797E-2B8BD39F9F94}"/>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t="10520" b="10520"/>
          <a:stretch>
            <a:fillRect/>
          </a:stretch>
        </p:blipFill>
        <p:spPr bwMode="auto">
          <a:xfrm>
            <a:off x="1714500" y="1382724"/>
            <a:ext cx="4622799" cy="335437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8">
            <a:extLst>
              <a:ext uri="{FF2B5EF4-FFF2-40B4-BE49-F238E27FC236}">
                <a16:creationId xmlns:a16="http://schemas.microsoft.com/office/drawing/2014/main" id="{9BCE0840-2A76-E2AC-CA2F-08531E1D46AB}"/>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0520" b="10520"/>
          <a:stretch>
            <a:fillRect/>
          </a:stretch>
        </p:blipFill>
        <p:spPr bwMode="auto">
          <a:xfrm>
            <a:off x="10925839" y="348055"/>
            <a:ext cx="855922" cy="746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773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anim calcmode="lin" valueType="num">
                                      <p:cBhvr additive="base">
                                        <p:cTn id="7" dur="500" fill="hold"/>
                                        <p:tgtEl>
                                          <p:spTgt spid="1032"/>
                                        </p:tgtEl>
                                        <p:attrNameLst>
                                          <p:attrName>ppt_x</p:attrName>
                                        </p:attrNameLst>
                                      </p:cBhvr>
                                      <p:tavLst>
                                        <p:tav tm="0">
                                          <p:val>
                                            <p:strVal val="#ppt_x"/>
                                          </p:val>
                                        </p:tav>
                                        <p:tav tm="100000">
                                          <p:val>
                                            <p:strVal val="#ppt_x"/>
                                          </p:val>
                                        </p:tav>
                                      </p:tavLst>
                                    </p:anim>
                                    <p:anim calcmode="lin" valueType="num">
                                      <p:cBhvr additive="base">
                                        <p:cTn id="8" dur="500" fill="hold"/>
                                        <p:tgtEl>
                                          <p:spTgt spid="10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99F414-37D4-2959-4B7C-1AB06146993E}"/>
              </a:ext>
            </a:extLst>
          </p:cNvPr>
          <p:cNvSpPr>
            <a:spLocks noGrp="1"/>
          </p:cNvSpPr>
          <p:nvPr>
            <p:ph idx="1"/>
          </p:nvPr>
        </p:nvSpPr>
        <p:spPr>
          <a:xfrm>
            <a:off x="838200" y="1124242"/>
            <a:ext cx="10515600" cy="1201781"/>
          </a:xfrm>
          <a:ln>
            <a:solidFill>
              <a:schemeClr val="accent1">
                <a:lumMod val="75000"/>
              </a:schemeClr>
            </a:solidFill>
          </a:ln>
        </p:spPr>
        <p:txBody>
          <a:bodyPr>
            <a:normAutofit/>
          </a:bodyPr>
          <a:lstStyle/>
          <a:p>
            <a:pPr marL="0" indent="0">
              <a:lnSpc>
                <a:spcPct val="100000"/>
              </a:lnSpc>
              <a:buNone/>
            </a:pPr>
            <a:r>
              <a:rPr lang="en-US" sz="1800" b="1" dirty="0">
                <a:solidFill>
                  <a:schemeClr val="accent2">
                    <a:lumMod val="75000"/>
                  </a:schemeClr>
                </a:solidFill>
              </a:rPr>
              <a:t>Definition:</a:t>
            </a:r>
            <a:br>
              <a:rPr lang="en-US" dirty="0"/>
            </a:br>
            <a:r>
              <a:rPr lang="en-US" sz="1600" b="1" dirty="0"/>
              <a:t>E-Sports Tournament Management System</a:t>
            </a:r>
            <a:r>
              <a:rPr lang="en-US" sz="1600" dirty="0"/>
              <a:t> designed using SQL databases. It stores and manages data related to tournaments, games, teams, matches, and players. The system ensures efficient tracking of tournament schedules, match results, team statistics, and player information.</a:t>
            </a:r>
            <a:endParaRPr lang="en-IN" sz="1600" dirty="0"/>
          </a:p>
        </p:txBody>
      </p:sp>
      <p:sp>
        <p:nvSpPr>
          <p:cNvPr id="2" name="TextBox 1">
            <a:extLst>
              <a:ext uri="{FF2B5EF4-FFF2-40B4-BE49-F238E27FC236}">
                <a16:creationId xmlns:a16="http://schemas.microsoft.com/office/drawing/2014/main" id="{DB12C8D7-CF14-F11D-0314-C4D786C1B711}"/>
              </a:ext>
            </a:extLst>
          </p:cNvPr>
          <p:cNvSpPr txBox="1"/>
          <p:nvPr/>
        </p:nvSpPr>
        <p:spPr>
          <a:xfrm>
            <a:off x="838200" y="616103"/>
            <a:ext cx="10515600" cy="461665"/>
          </a:xfrm>
          <a:prstGeom prst="rect">
            <a:avLst/>
          </a:prstGeom>
          <a:solidFill>
            <a:schemeClr val="accent2">
              <a:lumMod val="60000"/>
              <a:lumOff val="40000"/>
            </a:schemeClr>
          </a:solidFill>
        </p:spPr>
        <p:txBody>
          <a:bodyPr wrap="square" rtlCol="0">
            <a:spAutoFit/>
          </a:bodyPr>
          <a:lstStyle/>
          <a:p>
            <a:pPr marL="342900" indent="-342900">
              <a:buFont typeface="Wingdings" panose="05000000000000000000" pitchFamily="2" charset="2"/>
              <a:buChar char="v"/>
            </a:pPr>
            <a:r>
              <a:rPr lang="en-US" sz="2400" dirty="0">
                <a:solidFill>
                  <a:srgbClr val="002060"/>
                </a:solidFill>
              </a:rPr>
              <a:t>INTRODUCTION</a:t>
            </a:r>
            <a:endParaRPr lang="en-IN" sz="2400" dirty="0">
              <a:solidFill>
                <a:srgbClr val="002060"/>
              </a:solidFill>
            </a:endParaRPr>
          </a:p>
        </p:txBody>
      </p:sp>
      <p:sp>
        <p:nvSpPr>
          <p:cNvPr id="4" name="TextBox 3">
            <a:extLst>
              <a:ext uri="{FF2B5EF4-FFF2-40B4-BE49-F238E27FC236}">
                <a16:creationId xmlns:a16="http://schemas.microsoft.com/office/drawing/2014/main" id="{C7F13DD3-FB26-415F-BA81-728B3C2D5681}"/>
              </a:ext>
            </a:extLst>
          </p:cNvPr>
          <p:cNvSpPr txBox="1"/>
          <p:nvPr/>
        </p:nvSpPr>
        <p:spPr>
          <a:xfrm>
            <a:off x="838200" y="2354448"/>
            <a:ext cx="10515600" cy="1631216"/>
          </a:xfrm>
          <a:prstGeom prst="rect">
            <a:avLst/>
          </a:prstGeom>
          <a:noFill/>
          <a:ln>
            <a:solidFill>
              <a:schemeClr val="accent1">
                <a:lumMod val="75000"/>
              </a:schemeClr>
            </a:solidFill>
          </a:ln>
        </p:spPr>
        <p:txBody>
          <a:bodyPr wrap="square" rtlCol="0">
            <a:spAutoFit/>
          </a:bodyPr>
          <a:lstStyle/>
          <a:p>
            <a:r>
              <a:rPr lang="en-US" b="1" dirty="0">
                <a:solidFill>
                  <a:schemeClr val="accent2">
                    <a:lumMod val="75000"/>
                  </a:schemeClr>
                </a:solidFill>
              </a:rPr>
              <a:t>Key Features:</a:t>
            </a:r>
            <a:endParaRPr lang="en-US" dirty="0">
              <a:solidFill>
                <a:schemeClr val="accent2">
                  <a:lumMod val="75000"/>
                </a:schemeClr>
              </a:solidFill>
            </a:endParaRPr>
          </a:p>
          <a:p>
            <a:pPr marL="285750" indent="-285750">
              <a:buFont typeface="Arial" panose="020B0604020202020204" pitchFamily="34" charset="0"/>
              <a:buChar char="•"/>
            </a:pPr>
            <a:r>
              <a:rPr lang="en-US" sz="1600" dirty="0"/>
              <a:t>Centralized storage for all tournament-related data</a:t>
            </a:r>
          </a:p>
          <a:p>
            <a:pPr marL="285750" indent="-285750">
              <a:buFont typeface="Arial" panose="020B0604020202020204" pitchFamily="34" charset="0"/>
              <a:buChar char="•"/>
            </a:pPr>
            <a:r>
              <a:rPr lang="en-US" sz="1600" dirty="0"/>
              <a:t>Easy tracking of matches, scores, and winners</a:t>
            </a:r>
          </a:p>
          <a:p>
            <a:pPr marL="285750" indent="-285750">
              <a:buFont typeface="Arial" panose="020B0604020202020204" pitchFamily="34" charset="0"/>
              <a:buChar char="•"/>
            </a:pPr>
            <a:r>
              <a:rPr lang="en-US" sz="1600" dirty="0"/>
              <a:t>Management of teams, players, and their performance</a:t>
            </a:r>
          </a:p>
          <a:p>
            <a:pPr marL="285750" indent="-285750">
              <a:buFont typeface="Arial" panose="020B0604020202020204" pitchFamily="34" charset="0"/>
              <a:buChar char="•"/>
            </a:pPr>
            <a:r>
              <a:rPr lang="en-US" sz="1600" dirty="0"/>
              <a:t>Reports for analyzing team and player statistics</a:t>
            </a:r>
          </a:p>
          <a:p>
            <a:endParaRPr lang="en-IN" dirty="0"/>
          </a:p>
        </p:txBody>
      </p:sp>
      <p:sp>
        <p:nvSpPr>
          <p:cNvPr id="5" name="TextBox 4">
            <a:extLst>
              <a:ext uri="{FF2B5EF4-FFF2-40B4-BE49-F238E27FC236}">
                <a16:creationId xmlns:a16="http://schemas.microsoft.com/office/drawing/2014/main" id="{9FC263CC-8D69-BB2D-BA0D-D927CAE3F2F8}"/>
              </a:ext>
            </a:extLst>
          </p:cNvPr>
          <p:cNvSpPr txBox="1"/>
          <p:nvPr/>
        </p:nvSpPr>
        <p:spPr>
          <a:xfrm>
            <a:off x="838200" y="4044495"/>
            <a:ext cx="10515600" cy="1384995"/>
          </a:xfrm>
          <a:prstGeom prst="rect">
            <a:avLst/>
          </a:prstGeom>
          <a:noFill/>
          <a:ln>
            <a:solidFill>
              <a:schemeClr val="accent1">
                <a:lumMod val="75000"/>
              </a:schemeClr>
            </a:solidFill>
          </a:ln>
        </p:spPr>
        <p:txBody>
          <a:bodyPr wrap="square" rtlCol="0">
            <a:spAutoFit/>
          </a:bodyPr>
          <a:lstStyle/>
          <a:p>
            <a:r>
              <a:rPr lang="en-US" b="1" dirty="0">
                <a:solidFill>
                  <a:schemeClr val="accent2">
                    <a:lumMod val="75000"/>
                  </a:schemeClr>
                </a:solidFill>
              </a:rPr>
              <a:t>Importance:</a:t>
            </a:r>
            <a:endParaRPr lang="en-US" dirty="0">
              <a:solidFill>
                <a:schemeClr val="accent2">
                  <a:lumMod val="75000"/>
                </a:schemeClr>
              </a:solidFill>
            </a:endParaRPr>
          </a:p>
          <a:p>
            <a:pPr marL="285750" indent="-285750">
              <a:buFont typeface="Arial" panose="020B0604020202020204" pitchFamily="34" charset="0"/>
              <a:buChar char="•"/>
            </a:pPr>
            <a:r>
              <a:rPr lang="en-US" sz="1600" dirty="0"/>
              <a:t>Helps tournament organizers to manage events efficiently</a:t>
            </a:r>
          </a:p>
          <a:p>
            <a:pPr marL="285750" indent="-285750">
              <a:buFont typeface="Arial" panose="020B0604020202020204" pitchFamily="34" charset="0"/>
              <a:buChar char="•"/>
            </a:pPr>
            <a:r>
              <a:rPr lang="en-US" sz="1600" dirty="0"/>
              <a:t>Reduces manual errors and saves time</a:t>
            </a:r>
          </a:p>
          <a:p>
            <a:pPr marL="285750" indent="-285750">
              <a:buFont typeface="Arial" panose="020B0604020202020204" pitchFamily="34" charset="0"/>
              <a:buChar char="•"/>
            </a:pPr>
            <a:r>
              <a:rPr lang="en-US" sz="1600" dirty="0"/>
              <a:t>Provides insights on team performance and player statistics</a:t>
            </a:r>
          </a:p>
          <a:p>
            <a:endParaRPr lang="en-IN" dirty="0"/>
          </a:p>
        </p:txBody>
      </p:sp>
      <p:sp>
        <p:nvSpPr>
          <p:cNvPr id="6" name="TextBox 5">
            <a:extLst>
              <a:ext uri="{FF2B5EF4-FFF2-40B4-BE49-F238E27FC236}">
                <a16:creationId xmlns:a16="http://schemas.microsoft.com/office/drawing/2014/main" id="{FB52B89A-3CCC-622C-0757-C124359B700E}"/>
              </a:ext>
            </a:extLst>
          </p:cNvPr>
          <p:cNvSpPr txBox="1"/>
          <p:nvPr/>
        </p:nvSpPr>
        <p:spPr>
          <a:xfrm>
            <a:off x="838200" y="5475964"/>
            <a:ext cx="10515600" cy="615553"/>
          </a:xfrm>
          <a:prstGeom prst="rect">
            <a:avLst/>
          </a:prstGeom>
          <a:noFill/>
          <a:ln>
            <a:solidFill>
              <a:schemeClr val="accent1">
                <a:lumMod val="75000"/>
              </a:schemeClr>
            </a:solidFill>
          </a:ln>
        </p:spPr>
        <p:txBody>
          <a:bodyPr wrap="square" rtlCol="0">
            <a:spAutoFit/>
          </a:bodyPr>
          <a:lstStyle/>
          <a:p>
            <a:r>
              <a:rPr lang="en-US" b="1" dirty="0">
                <a:solidFill>
                  <a:schemeClr val="accent2">
                    <a:lumMod val="75000"/>
                  </a:schemeClr>
                </a:solidFill>
              </a:rPr>
              <a:t>Visual Suggestion:</a:t>
            </a:r>
            <a:endParaRPr lang="en-US" dirty="0">
              <a:solidFill>
                <a:schemeClr val="accent2">
                  <a:lumMod val="75000"/>
                </a:schemeClr>
              </a:solidFill>
            </a:endParaRPr>
          </a:p>
          <a:p>
            <a:r>
              <a:rPr lang="en-US" sz="1600" dirty="0"/>
              <a:t>Use a </a:t>
            </a:r>
            <a:r>
              <a:rPr lang="en-US" sz="1600" b="1" dirty="0"/>
              <a:t>diagram</a:t>
            </a:r>
            <a:r>
              <a:rPr lang="en-US" sz="1600" dirty="0"/>
              <a:t> showing relationships between </a:t>
            </a:r>
            <a:r>
              <a:rPr lang="en-US" sz="1600" b="1" dirty="0"/>
              <a:t>Tables</a:t>
            </a:r>
            <a:r>
              <a:rPr lang="en-US" sz="1600" dirty="0"/>
              <a:t>: Players → Teams → Matches → Tournaments → Games</a:t>
            </a:r>
          </a:p>
        </p:txBody>
      </p:sp>
      <p:pic>
        <p:nvPicPr>
          <p:cNvPr id="8" name="Picture 8">
            <a:extLst>
              <a:ext uri="{FF2B5EF4-FFF2-40B4-BE49-F238E27FC236}">
                <a16:creationId xmlns:a16="http://schemas.microsoft.com/office/drawing/2014/main" id="{4A85A5C4-57D8-1A90-9581-D1307FAFEBDB}"/>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0520" b="10520"/>
          <a:stretch>
            <a:fillRect/>
          </a:stretch>
        </p:blipFill>
        <p:spPr bwMode="auto">
          <a:xfrm>
            <a:off x="10925839" y="348055"/>
            <a:ext cx="855922" cy="746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6915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820AE-709A-B004-9BE3-1F8957F5DB6F}"/>
              </a:ext>
            </a:extLst>
          </p:cNvPr>
          <p:cNvSpPr>
            <a:spLocks noGrp="1"/>
          </p:cNvSpPr>
          <p:nvPr>
            <p:ph type="title"/>
          </p:nvPr>
        </p:nvSpPr>
        <p:spPr>
          <a:xfrm>
            <a:off x="838200" y="509557"/>
            <a:ext cx="10515600" cy="536918"/>
          </a:xfrm>
          <a:solidFill>
            <a:schemeClr val="accent2">
              <a:lumMod val="60000"/>
              <a:lumOff val="40000"/>
            </a:schemeClr>
          </a:solidFill>
        </p:spPr>
        <p:txBody>
          <a:bodyPr>
            <a:normAutofit/>
          </a:bodyPr>
          <a:lstStyle/>
          <a:p>
            <a:pPr marL="342900" indent="-342900">
              <a:buFont typeface="Wingdings" panose="05000000000000000000" pitchFamily="2" charset="2"/>
              <a:buChar char="v"/>
            </a:pPr>
            <a:r>
              <a:rPr lang="en-IN" sz="2400" dirty="0">
                <a:solidFill>
                  <a:schemeClr val="accent1">
                    <a:lumMod val="50000"/>
                  </a:schemeClr>
                </a:solidFill>
                <a:latin typeface="+mn-lt"/>
              </a:rPr>
              <a:t>OBJECTIVES</a:t>
            </a:r>
          </a:p>
        </p:txBody>
      </p:sp>
      <p:sp>
        <p:nvSpPr>
          <p:cNvPr id="3" name="Content Placeholder 2">
            <a:extLst>
              <a:ext uri="{FF2B5EF4-FFF2-40B4-BE49-F238E27FC236}">
                <a16:creationId xmlns:a16="http://schemas.microsoft.com/office/drawing/2014/main" id="{B0A18A18-0C41-5860-368B-7FC58643B643}"/>
              </a:ext>
            </a:extLst>
          </p:cNvPr>
          <p:cNvSpPr>
            <a:spLocks noGrp="1"/>
          </p:cNvSpPr>
          <p:nvPr>
            <p:ph idx="1"/>
          </p:nvPr>
        </p:nvSpPr>
        <p:spPr>
          <a:xfrm>
            <a:off x="838200" y="1143453"/>
            <a:ext cx="10515600" cy="4371975"/>
          </a:xfrm>
          <a:solidFill>
            <a:schemeClr val="accent4">
              <a:lumMod val="20000"/>
              <a:lumOff val="80000"/>
            </a:schemeClr>
          </a:solidFill>
          <a:ln w="12700">
            <a:solidFill>
              <a:schemeClr val="accent1">
                <a:lumMod val="75000"/>
              </a:schemeClr>
            </a:solidFill>
          </a:ln>
        </p:spPr>
        <p:txBody>
          <a:bodyPr>
            <a:normAutofit fontScale="92500" lnSpcReduction="10000"/>
          </a:bodyPr>
          <a:lstStyle/>
          <a:p>
            <a:r>
              <a:rPr lang="en-US" sz="2100" b="1" dirty="0">
                <a:solidFill>
                  <a:schemeClr val="accent2">
                    <a:lumMod val="75000"/>
                  </a:schemeClr>
                </a:solidFill>
              </a:rPr>
              <a:t>Efficient Data Management:</a:t>
            </a:r>
            <a:endParaRPr lang="en-US" sz="2100" dirty="0">
              <a:solidFill>
                <a:schemeClr val="accent2">
                  <a:lumMod val="75000"/>
                </a:schemeClr>
              </a:solidFill>
            </a:endParaRPr>
          </a:p>
          <a:p>
            <a:pPr lvl="1"/>
            <a:r>
              <a:rPr lang="en-US" sz="1700" dirty="0"/>
              <a:t>To organize all tournament-related data in a structured database.</a:t>
            </a:r>
          </a:p>
          <a:p>
            <a:r>
              <a:rPr lang="en-US" sz="1900" b="1" dirty="0">
                <a:solidFill>
                  <a:schemeClr val="accent2">
                    <a:lumMod val="75000"/>
                  </a:schemeClr>
                </a:solidFill>
              </a:rPr>
              <a:t>Automated Match Tracking:</a:t>
            </a:r>
            <a:endParaRPr lang="en-US" sz="1900" dirty="0">
              <a:solidFill>
                <a:schemeClr val="accent2">
                  <a:lumMod val="75000"/>
                </a:schemeClr>
              </a:solidFill>
            </a:endParaRPr>
          </a:p>
          <a:p>
            <a:pPr lvl="1"/>
            <a:r>
              <a:rPr lang="en-US" sz="1700" dirty="0"/>
              <a:t>To automatically track match results, scores, and winners using SQL queries.</a:t>
            </a:r>
          </a:p>
          <a:p>
            <a:r>
              <a:rPr lang="en-US" sz="2100" b="1" dirty="0">
                <a:solidFill>
                  <a:schemeClr val="accent2">
                    <a:lumMod val="75000"/>
                  </a:schemeClr>
                </a:solidFill>
              </a:rPr>
              <a:t>Team &amp; Player Insights:</a:t>
            </a:r>
            <a:endParaRPr lang="en-US" sz="2100" dirty="0">
              <a:solidFill>
                <a:schemeClr val="accent2">
                  <a:lumMod val="75000"/>
                </a:schemeClr>
              </a:solidFill>
            </a:endParaRPr>
          </a:p>
          <a:p>
            <a:pPr lvl="1"/>
            <a:r>
              <a:rPr lang="en-US" sz="1700" dirty="0"/>
              <a:t>To provide detailed statistics about teams and players for performance analysis.</a:t>
            </a:r>
          </a:p>
          <a:p>
            <a:r>
              <a:rPr lang="en-US" sz="2100" b="1" dirty="0">
                <a:solidFill>
                  <a:schemeClr val="accent2">
                    <a:lumMod val="75000"/>
                  </a:schemeClr>
                </a:solidFill>
              </a:rPr>
              <a:t>Integration with Games:</a:t>
            </a:r>
            <a:endParaRPr lang="en-US" sz="2100" dirty="0">
              <a:solidFill>
                <a:schemeClr val="accent2">
                  <a:lumMod val="75000"/>
                </a:schemeClr>
              </a:solidFill>
            </a:endParaRPr>
          </a:p>
          <a:p>
            <a:pPr lvl="1"/>
            <a:r>
              <a:rPr lang="en-US" sz="1700" dirty="0"/>
              <a:t>To manage multiple games and tournaments simultaneously within a single system.</a:t>
            </a:r>
          </a:p>
          <a:p>
            <a:r>
              <a:rPr lang="en-US" sz="2100" b="1" dirty="0">
                <a:solidFill>
                  <a:schemeClr val="accent2">
                    <a:lumMod val="75000"/>
                  </a:schemeClr>
                </a:solidFill>
              </a:rPr>
              <a:t>Data Consistency &amp; Integrity:</a:t>
            </a:r>
            <a:endParaRPr lang="en-US" sz="2100" dirty="0">
              <a:solidFill>
                <a:schemeClr val="accent2">
                  <a:lumMod val="75000"/>
                </a:schemeClr>
              </a:solidFill>
            </a:endParaRPr>
          </a:p>
          <a:p>
            <a:pPr lvl="1">
              <a:lnSpc>
                <a:spcPct val="160000"/>
              </a:lnSpc>
            </a:pPr>
            <a:r>
              <a:rPr lang="en-US" sz="1700" dirty="0"/>
              <a:t>To maintain accurate relationships between teams, players, and tournaments using proper database constraints like </a:t>
            </a:r>
            <a:r>
              <a:rPr lang="en-US" sz="1700" b="1" dirty="0"/>
              <a:t>primary keys</a:t>
            </a:r>
            <a:r>
              <a:rPr lang="en-US" sz="1700" dirty="0"/>
              <a:t> and </a:t>
            </a:r>
            <a:r>
              <a:rPr lang="en-US" sz="1700" b="1" dirty="0"/>
              <a:t>foreign keys</a:t>
            </a:r>
            <a:r>
              <a:rPr lang="en-US" sz="1700" dirty="0"/>
              <a:t>.</a:t>
            </a:r>
          </a:p>
          <a:p>
            <a:r>
              <a:rPr lang="en-US" sz="2100" b="1" dirty="0">
                <a:solidFill>
                  <a:schemeClr val="accent2">
                    <a:lumMod val="75000"/>
                  </a:schemeClr>
                </a:solidFill>
              </a:rPr>
              <a:t>Scalable System:</a:t>
            </a:r>
            <a:endParaRPr lang="en-US" sz="2100" dirty="0">
              <a:solidFill>
                <a:schemeClr val="accent2">
                  <a:lumMod val="75000"/>
                </a:schemeClr>
              </a:solidFill>
            </a:endParaRPr>
          </a:p>
          <a:p>
            <a:pPr lvl="1"/>
            <a:r>
              <a:rPr lang="en-US" sz="1700" dirty="0"/>
              <a:t>To allow future addition of more tournaments, teams, matches, and players without affecting existing data.</a:t>
            </a:r>
          </a:p>
          <a:p>
            <a:endParaRPr lang="en-IN" dirty="0"/>
          </a:p>
        </p:txBody>
      </p:sp>
      <p:pic>
        <p:nvPicPr>
          <p:cNvPr id="5" name="Picture 8">
            <a:extLst>
              <a:ext uri="{FF2B5EF4-FFF2-40B4-BE49-F238E27FC236}">
                <a16:creationId xmlns:a16="http://schemas.microsoft.com/office/drawing/2014/main" id="{831A692A-C725-4807-F80E-EE2789F8F662}"/>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0520" b="10520"/>
          <a:stretch>
            <a:fillRect/>
          </a:stretch>
        </p:blipFill>
        <p:spPr bwMode="auto">
          <a:xfrm>
            <a:off x="10925839" y="348055"/>
            <a:ext cx="855922" cy="746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830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183750-7F00-823F-8E05-B2FA38EC420C}"/>
              </a:ext>
            </a:extLst>
          </p:cNvPr>
          <p:cNvSpPr>
            <a:spLocks noGrp="1"/>
          </p:cNvSpPr>
          <p:nvPr>
            <p:ph type="title"/>
          </p:nvPr>
        </p:nvSpPr>
        <p:spPr>
          <a:xfrm>
            <a:off x="621029" y="568505"/>
            <a:ext cx="11122719" cy="652936"/>
          </a:xfrm>
          <a:solidFill>
            <a:schemeClr val="accent2">
              <a:lumMod val="40000"/>
              <a:lumOff val="60000"/>
            </a:schemeClr>
          </a:solidFill>
        </p:spPr>
        <p:style>
          <a:lnRef idx="2">
            <a:schemeClr val="accent2"/>
          </a:lnRef>
          <a:fillRef idx="1">
            <a:schemeClr val="lt1"/>
          </a:fillRef>
          <a:effectRef idx="0">
            <a:schemeClr val="accent2"/>
          </a:effectRef>
          <a:fontRef idx="minor">
            <a:schemeClr val="dk1"/>
          </a:fontRef>
        </p:style>
        <p:txBody>
          <a:bodyPr>
            <a:normAutofit/>
          </a:bodyPr>
          <a:lstStyle/>
          <a:p>
            <a:pPr marL="342900" indent="-342900">
              <a:buFont typeface="Wingdings" panose="05000000000000000000" pitchFamily="2" charset="2"/>
              <a:buChar char="v"/>
            </a:pPr>
            <a:r>
              <a:rPr lang="en-IN" sz="2400" dirty="0"/>
              <a:t>Database Design / Database Schema</a:t>
            </a:r>
          </a:p>
        </p:txBody>
      </p:sp>
      <p:sp>
        <p:nvSpPr>
          <p:cNvPr id="13" name="Rectangle 3">
            <a:extLst>
              <a:ext uri="{FF2B5EF4-FFF2-40B4-BE49-F238E27FC236}">
                <a16:creationId xmlns:a16="http://schemas.microsoft.com/office/drawing/2014/main" id="{02625B4F-4B19-F8EC-CDD6-E2995832C219}"/>
              </a:ext>
            </a:extLst>
          </p:cNvPr>
          <p:cNvSpPr>
            <a:spLocks noChangeArrowheads="1"/>
          </p:cNvSpPr>
          <p:nvPr/>
        </p:nvSpPr>
        <p:spPr bwMode="auto">
          <a:xfrm>
            <a:off x="621029" y="1315414"/>
            <a:ext cx="11122719" cy="1703030"/>
          </a:xfrm>
          <a:prstGeom prst="rect">
            <a:avLst/>
          </a:prstGeom>
          <a:solidFill>
            <a:schemeClr val="accent1">
              <a:lumMod val="20000"/>
              <a:lumOff val="80000"/>
            </a:schemeClr>
          </a:solidFill>
          <a:ln>
            <a:solidFill>
              <a:schemeClr val="accent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Database Name: </a:t>
            </a:r>
            <a:r>
              <a:rPr kumimoji="0" lang="en-US" altLang="en-US" sz="1800" b="1" i="0" u="none" strike="noStrike" cap="none" normalizeH="0" baseline="0" dirty="0">
                <a:ln>
                  <a:noFill/>
                </a:ln>
                <a:solidFill>
                  <a:schemeClr val="tx1"/>
                </a:solidFill>
                <a:effectLst/>
                <a:latin typeface="Arial" panose="020B0604020202020204" pitchFamily="34" charset="0"/>
              </a:rPr>
              <a:t>Esports </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dirty="0">
                <a:latin typeface="Arial" panose="020B0604020202020204" pitchFamily="34" charset="0"/>
              </a:rPr>
              <a:t> DATABASE create Syntax:- </a:t>
            </a:r>
            <a:r>
              <a:rPr lang="en-US" altLang="en-US" b="1" dirty="0">
                <a:solidFill>
                  <a:srgbClr val="002060"/>
                </a:solidFill>
                <a:latin typeface="Arial" panose="020B0604020202020204" pitchFamily="34" charset="0"/>
              </a:rPr>
              <a:t>CREATE DATABASE Esports;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rgbClr val="002060"/>
                </a:solidFill>
                <a:effectLst/>
                <a:latin typeface="Arial" panose="020B0604020202020204" pitchFamily="34" charset="0"/>
              </a:rPr>
              <a:t> </a:t>
            </a:r>
            <a:r>
              <a:rPr kumimoji="0" lang="en-US" altLang="en-US" sz="1800" i="0" u="none" strike="noStrike" cap="none" normalizeH="0" baseline="0" dirty="0">
                <a:ln>
                  <a:noFill/>
                </a:ln>
                <a:effectLst/>
                <a:latin typeface="Arial" panose="020B0604020202020204" pitchFamily="34" charset="0"/>
              </a:rPr>
              <a:t>SELECT database syntax:-</a:t>
            </a:r>
            <a:r>
              <a:rPr kumimoji="0" lang="en-US" altLang="en-US" sz="1800" b="1" i="0" u="none" strike="noStrike" cap="none" normalizeH="0" baseline="0" dirty="0">
                <a:ln>
                  <a:noFill/>
                </a:ln>
                <a:solidFill>
                  <a:srgbClr val="002060"/>
                </a:solidFill>
                <a:effectLst/>
                <a:latin typeface="Arial" panose="020B0604020202020204" pitchFamily="34" charset="0"/>
              </a:rPr>
              <a:t>USE ESPORTS;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Purpose: To store and manage all data related to </a:t>
            </a:r>
            <a:r>
              <a:rPr kumimoji="0" lang="en-US" altLang="en-US" sz="1800" b="1" i="0" u="none" strike="noStrike" cap="none" normalizeH="0" baseline="0" dirty="0">
                <a:ln>
                  <a:noFill/>
                </a:ln>
                <a:solidFill>
                  <a:schemeClr val="tx1"/>
                </a:solidFill>
                <a:effectLst/>
                <a:latin typeface="Arial" panose="020B0604020202020204" pitchFamily="34" charset="0"/>
              </a:rPr>
              <a:t>Players, Teams, Tournaments, Matches, and Games</a:t>
            </a:r>
          </a:p>
        </p:txBody>
      </p:sp>
      <p:sp>
        <p:nvSpPr>
          <p:cNvPr id="15" name="TextBox 14">
            <a:extLst>
              <a:ext uri="{FF2B5EF4-FFF2-40B4-BE49-F238E27FC236}">
                <a16:creationId xmlns:a16="http://schemas.microsoft.com/office/drawing/2014/main" id="{011CA088-A94E-81E1-9585-C1AB1177AC25}"/>
              </a:ext>
            </a:extLst>
          </p:cNvPr>
          <p:cNvSpPr txBox="1"/>
          <p:nvPr/>
        </p:nvSpPr>
        <p:spPr>
          <a:xfrm>
            <a:off x="621030" y="3429000"/>
            <a:ext cx="11122718" cy="2534027"/>
          </a:xfrm>
          <a:prstGeom prst="rect">
            <a:avLst/>
          </a:prstGeom>
          <a:solidFill>
            <a:schemeClr val="accent6">
              <a:lumMod val="40000"/>
              <a:lumOff val="60000"/>
            </a:schemeClr>
          </a:solidFill>
          <a:ln>
            <a:solidFill>
              <a:schemeClr val="accent1">
                <a:lumMod val="50000"/>
              </a:schemeClr>
            </a:solidFill>
          </a:ln>
        </p:spPr>
        <p:txBody>
          <a:bodyPr wrap="square">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Tables Created:-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Players Table</a:t>
            </a:r>
            <a:r>
              <a:rPr kumimoji="0" lang="en-US" altLang="en-US" sz="1800" b="0" i="0" u="none" strike="noStrike" cap="none" normalizeH="0" baseline="0" dirty="0">
                <a:ln>
                  <a:noFill/>
                </a:ln>
                <a:solidFill>
                  <a:schemeClr val="tx1"/>
                </a:solidFill>
                <a:effectLst/>
                <a:latin typeface="Arial" panose="020B0604020202020204" pitchFamily="34" charset="0"/>
              </a:rPr>
              <a:t> → Stores player details (name, age, nationality, role, join date, etc.)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Teams Table</a:t>
            </a:r>
            <a:r>
              <a:rPr kumimoji="0" lang="en-US" altLang="en-US" sz="1800" b="0" i="0" u="none" strike="noStrike" cap="none" normalizeH="0" baseline="0" dirty="0">
                <a:ln>
                  <a:noFill/>
                </a:ln>
                <a:solidFill>
                  <a:schemeClr val="tx1"/>
                </a:solidFill>
                <a:effectLst/>
                <a:latin typeface="Arial" panose="020B0604020202020204" pitchFamily="34" charset="0"/>
              </a:rPr>
              <a:t> → Stores team details (team name, country, coach, founded year, total wins, etc.)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Games Table</a:t>
            </a:r>
            <a:r>
              <a:rPr kumimoji="0" lang="en-US" altLang="en-US" sz="1800" b="0" i="0" u="none" strike="noStrike" cap="none" normalizeH="0" baseline="0" dirty="0">
                <a:ln>
                  <a:noFill/>
                </a:ln>
                <a:solidFill>
                  <a:schemeClr val="tx1"/>
                </a:solidFill>
                <a:effectLst/>
                <a:latin typeface="Arial" panose="020B0604020202020204" pitchFamily="34" charset="0"/>
              </a:rPr>
              <a:t> → Stores esports game details (game name, genre, release year, rating, etc.)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Tournaments Table</a:t>
            </a:r>
            <a:r>
              <a:rPr kumimoji="0" lang="en-US" altLang="en-US" sz="1800" b="0" i="0" u="none" strike="noStrike" cap="none" normalizeH="0" baseline="0" dirty="0">
                <a:ln>
                  <a:noFill/>
                </a:ln>
                <a:solidFill>
                  <a:schemeClr val="tx1"/>
                </a:solidFill>
                <a:effectLst/>
                <a:latin typeface="Arial" panose="020B0604020202020204" pitchFamily="34" charset="0"/>
              </a:rPr>
              <a:t> → Stores tournament details (tournament name, location, prize pool, dates, etc.)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Matches Table</a:t>
            </a:r>
            <a:r>
              <a:rPr kumimoji="0" lang="en-US" altLang="en-US" sz="1800" b="0" i="0" u="none" strike="noStrike" cap="none" normalizeH="0" baseline="0" dirty="0">
                <a:ln>
                  <a:noFill/>
                </a:ln>
                <a:solidFill>
                  <a:schemeClr val="tx1"/>
                </a:solidFill>
                <a:effectLst/>
                <a:latin typeface="Arial" panose="020B0604020202020204" pitchFamily="34" charset="0"/>
              </a:rPr>
              <a:t> → Stores match details (tournament, teams, scores, winner, date, etc.)</a:t>
            </a:r>
          </a:p>
        </p:txBody>
      </p:sp>
      <p:pic>
        <p:nvPicPr>
          <p:cNvPr id="2" name="Picture 8">
            <a:extLst>
              <a:ext uri="{FF2B5EF4-FFF2-40B4-BE49-F238E27FC236}">
                <a16:creationId xmlns:a16="http://schemas.microsoft.com/office/drawing/2014/main" id="{BC8B07A6-0038-67B4-D548-57102D3510E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0520" b="10520"/>
          <a:stretch>
            <a:fillRect/>
          </a:stretch>
        </p:blipFill>
        <p:spPr bwMode="auto">
          <a:xfrm>
            <a:off x="10989426" y="568504"/>
            <a:ext cx="855922" cy="746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718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4CC15-3CF6-5348-E063-305B1D69A35A}"/>
              </a:ext>
            </a:extLst>
          </p:cNvPr>
          <p:cNvSpPr>
            <a:spLocks noGrp="1"/>
          </p:cNvSpPr>
          <p:nvPr>
            <p:ph type="title"/>
          </p:nvPr>
        </p:nvSpPr>
        <p:spPr>
          <a:xfrm>
            <a:off x="838200" y="271247"/>
            <a:ext cx="10515600" cy="470895"/>
          </a:xfrm>
          <a:solidFill>
            <a:schemeClr val="accent2">
              <a:lumMod val="40000"/>
              <a:lumOff val="60000"/>
            </a:schemeClr>
          </a:solidFill>
          <a:ln>
            <a:solidFill>
              <a:schemeClr val="accent2">
                <a:lumMod val="75000"/>
              </a:schemeClr>
            </a:solidFill>
          </a:ln>
        </p:spPr>
        <p:txBody>
          <a:bodyPr>
            <a:normAutofit/>
          </a:bodyPr>
          <a:lstStyle/>
          <a:p>
            <a:pPr marL="342900" indent="-342900">
              <a:buFont typeface="Wingdings" panose="05000000000000000000" pitchFamily="2" charset="2"/>
              <a:buChar char="v"/>
            </a:pPr>
            <a:r>
              <a:rPr lang="en-US" sz="2400" b="1" dirty="0"/>
              <a:t>TABLE CREEATION SQL QUERY OF ALL 5 TABLES  SYNTAX:-</a:t>
            </a:r>
            <a:endParaRPr lang="en-IN" sz="2400" b="1" dirty="0"/>
          </a:p>
        </p:txBody>
      </p:sp>
      <p:pic>
        <p:nvPicPr>
          <p:cNvPr id="18" name="Picture 17">
            <a:extLst>
              <a:ext uri="{FF2B5EF4-FFF2-40B4-BE49-F238E27FC236}">
                <a16:creationId xmlns:a16="http://schemas.microsoft.com/office/drawing/2014/main" id="{C707FC85-FCCD-BFB9-C828-DAE364A74C6F}"/>
              </a:ext>
            </a:extLst>
          </p:cNvPr>
          <p:cNvPicPr>
            <a:picLocks noChangeAspect="1"/>
          </p:cNvPicPr>
          <p:nvPr/>
        </p:nvPicPr>
        <p:blipFill>
          <a:blip r:embed="rId2"/>
          <a:stretch>
            <a:fillRect/>
          </a:stretch>
        </p:blipFill>
        <p:spPr>
          <a:xfrm>
            <a:off x="838201" y="923952"/>
            <a:ext cx="5366656" cy="3321477"/>
          </a:xfrm>
          <a:prstGeom prst="rect">
            <a:avLst/>
          </a:prstGeom>
          <a:ln>
            <a:solidFill>
              <a:srgbClr val="002060"/>
            </a:solidFill>
          </a:ln>
        </p:spPr>
      </p:pic>
      <p:pic>
        <p:nvPicPr>
          <p:cNvPr id="20" name="Picture 19">
            <a:extLst>
              <a:ext uri="{FF2B5EF4-FFF2-40B4-BE49-F238E27FC236}">
                <a16:creationId xmlns:a16="http://schemas.microsoft.com/office/drawing/2014/main" id="{EC2BD158-6A4A-2D0C-C699-6AD6CF523118}"/>
              </a:ext>
            </a:extLst>
          </p:cNvPr>
          <p:cNvPicPr>
            <a:picLocks noChangeAspect="1"/>
          </p:cNvPicPr>
          <p:nvPr/>
        </p:nvPicPr>
        <p:blipFill>
          <a:blip r:embed="rId3"/>
          <a:stretch>
            <a:fillRect/>
          </a:stretch>
        </p:blipFill>
        <p:spPr>
          <a:xfrm>
            <a:off x="6437975" y="923952"/>
            <a:ext cx="4077625" cy="2106631"/>
          </a:xfrm>
          <a:prstGeom prst="rect">
            <a:avLst/>
          </a:prstGeom>
          <a:ln>
            <a:solidFill>
              <a:srgbClr val="002060"/>
            </a:solidFill>
          </a:ln>
        </p:spPr>
      </p:pic>
      <p:pic>
        <p:nvPicPr>
          <p:cNvPr id="22" name="Picture 21">
            <a:extLst>
              <a:ext uri="{FF2B5EF4-FFF2-40B4-BE49-F238E27FC236}">
                <a16:creationId xmlns:a16="http://schemas.microsoft.com/office/drawing/2014/main" id="{ED38F2D1-3561-D226-013E-8133C4350B2A}"/>
              </a:ext>
            </a:extLst>
          </p:cNvPr>
          <p:cNvPicPr>
            <a:picLocks noChangeAspect="1"/>
          </p:cNvPicPr>
          <p:nvPr/>
        </p:nvPicPr>
        <p:blipFill>
          <a:blip r:embed="rId4"/>
          <a:stretch>
            <a:fillRect/>
          </a:stretch>
        </p:blipFill>
        <p:spPr>
          <a:xfrm>
            <a:off x="6437975" y="3230755"/>
            <a:ext cx="4077625" cy="1484936"/>
          </a:xfrm>
          <a:prstGeom prst="rect">
            <a:avLst/>
          </a:prstGeom>
          <a:ln>
            <a:solidFill>
              <a:srgbClr val="002060"/>
            </a:solidFill>
          </a:ln>
        </p:spPr>
      </p:pic>
      <p:pic>
        <p:nvPicPr>
          <p:cNvPr id="24" name="Picture 23">
            <a:extLst>
              <a:ext uri="{FF2B5EF4-FFF2-40B4-BE49-F238E27FC236}">
                <a16:creationId xmlns:a16="http://schemas.microsoft.com/office/drawing/2014/main" id="{A587DA78-4817-FE6C-1E6F-E6EA3207D1C3}"/>
              </a:ext>
            </a:extLst>
          </p:cNvPr>
          <p:cNvPicPr>
            <a:picLocks noChangeAspect="1"/>
          </p:cNvPicPr>
          <p:nvPr/>
        </p:nvPicPr>
        <p:blipFill>
          <a:blip r:embed="rId5"/>
          <a:stretch>
            <a:fillRect/>
          </a:stretch>
        </p:blipFill>
        <p:spPr>
          <a:xfrm>
            <a:off x="6437975" y="4915863"/>
            <a:ext cx="4077626" cy="1670890"/>
          </a:xfrm>
          <a:prstGeom prst="rect">
            <a:avLst/>
          </a:prstGeom>
          <a:ln>
            <a:solidFill>
              <a:srgbClr val="002060"/>
            </a:solidFill>
          </a:ln>
        </p:spPr>
      </p:pic>
      <p:pic>
        <p:nvPicPr>
          <p:cNvPr id="26" name="Picture 25">
            <a:extLst>
              <a:ext uri="{FF2B5EF4-FFF2-40B4-BE49-F238E27FC236}">
                <a16:creationId xmlns:a16="http://schemas.microsoft.com/office/drawing/2014/main" id="{AACC88ED-47F4-CD20-97D9-8945FEB64D54}"/>
              </a:ext>
            </a:extLst>
          </p:cNvPr>
          <p:cNvPicPr>
            <a:picLocks noChangeAspect="1"/>
          </p:cNvPicPr>
          <p:nvPr/>
        </p:nvPicPr>
        <p:blipFill>
          <a:blip r:embed="rId6"/>
          <a:stretch>
            <a:fillRect/>
          </a:stretch>
        </p:blipFill>
        <p:spPr>
          <a:xfrm>
            <a:off x="838199" y="4427239"/>
            <a:ext cx="4609011" cy="2086266"/>
          </a:xfrm>
          <a:prstGeom prst="rect">
            <a:avLst/>
          </a:prstGeom>
          <a:ln>
            <a:solidFill>
              <a:srgbClr val="002060"/>
            </a:solidFill>
          </a:ln>
        </p:spPr>
      </p:pic>
      <p:pic>
        <p:nvPicPr>
          <p:cNvPr id="3" name="Picture 8">
            <a:extLst>
              <a:ext uri="{FF2B5EF4-FFF2-40B4-BE49-F238E27FC236}">
                <a16:creationId xmlns:a16="http://schemas.microsoft.com/office/drawing/2014/main" id="{006155AB-234F-1F4C-5FB9-60DE44E700E6}"/>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10520" b="10520"/>
          <a:stretch>
            <a:fillRect/>
          </a:stretch>
        </p:blipFill>
        <p:spPr bwMode="auto">
          <a:xfrm>
            <a:off x="10839449" y="923952"/>
            <a:ext cx="1028699" cy="739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84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lue and purple futuristic gaming background | Premium Photo">
            <a:extLst>
              <a:ext uri="{FF2B5EF4-FFF2-40B4-BE49-F238E27FC236}">
                <a16:creationId xmlns:a16="http://schemas.microsoft.com/office/drawing/2014/main" id="{07251CF0-2198-7B01-69AB-74D0656269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65100"/>
            <a:ext cx="11925300" cy="66928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51C396A-D08B-5F1A-ADFC-948F31FADF44}"/>
              </a:ext>
            </a:extLst>
          </p:cNvPr>
          <p:cNvSpPr>
            <a:spLocks noGrp="1"/>
          </p:cNvSpPr>
          <p:nvPr>
            <p:ph type="title"/>
          </p:nvPr>
        </p:nvSpPr>
        <p:spPr>
          <a:xfrm>
            <a:off x="838198" y="365124"/>
            <a:ext cx="9321802" cy="869315"/>
          </a:xfrm>
          <a:solidFill>
            <a:schemeClr val="accent2">
              <a:lumMod val="40000"/>
              <a:lumOff val="60000"/>
            </a:schemeClr>
          </a:solidFill>
          <a:ln>
            <a:solidFill>
              <a:schemeClr val="accent2">
                <a:lumMod val="75000"/>
              </a:schemeClr>
            </a:solidFill>
          </a:ln>
        </p:spPr>
        <p:txBody>
          <a:bodyPr>
            <a:normAutofit/>
          </a:bodyPr>
          <a:lstStyle/>
          <a:p>
            <a:pPr marL="571500" indent="-571500">
              <a:buFont typeface="Wingdings" panose="05000000000000000000" pitchFamily="2" charset="2"/>
              <a:buChar char="v"/>
            </a:pPr>
            <a:r>
              <a:rPr lang="en-US" sz="2800" b="1" dirty="0">
                <a:solidFill>
                  <a:srgbClr val="002060"/>
                </a:solidFill>
              </a:rPr>
              <a:t>ER DIAGRAM</a:t>
            </a:r>
            <a:endParaRPr lang="en-IN" sz="2800" b="1" dirty="0">
              <a:solidFill>
                <a:srgbClr val="002060"/>
              </a:solidFill>
            </a:endParaRPr>
          </a:p>
        </p:txBody>
      </p:sp>
      <p:pic>
        <p:nvPicPr>
          <p:cNvPr id="6" name="Content Placeholder 5">
            <a:extLst>
              <a:ext uri="{FF2B5EF4-FFF2-40B4-BE49-F238E27FC236}">
                <a16:creationId xmlns:a16="http://schemas.microsoft.com/office/drawing/2014/main" id="{ECC5E67E-D56A-6332-736F-F9CB449F1841}"/>
              </a:ext>
            </a:extLst>
          </p:cNvPr>
          <p:cNvPicPr>
            <a:picLocks noGrp="1" noChangeAspect="1"/>
          </p:cNvPicPr>
          <p:nvPr>
            <p:ph sz="half" idx="1"/>
          </p:nvPr>
        </p:nvPicPr>
        <p:blipFill>
          <a:blip r:embed="rId3"/>
          <a:stretch>
            <a:fillRect/>
          </a:stretch>
        </p:blipFill>
        <p:spPr>
          <a:xfrm>
            <a:off x="838199" y="1379349"/>
            <a:ext cx="10515600" cy="5113526"/>
          </a:xfrm>
          <a:prstGeom prst="rect">
            <a:avLst/>
          </a:prstGeom>
          <a:ln>
            <a:solidFill>
              <a:schemeClr val="accent1">
                <a:lumMod val="50000"/>
              </a:schemeClr>
            </a:solidFill>
          </a:ln>
        </p:spPr>
      </p:pic>
      <p:pic>
        <p:nvPicPr>
          <p:cNvPr id="3" name="Picture 8">
            <a:extLst>
              <a:ext uri="{FF2B5EF4-FFF2-40B4-BE49-F238E27FC236}">
                <a16:creationId xmlns:a16="http://schemas.microsoft.com/office/drawing/2014/main" id="{658942C9-E185-280B-C641-E6E063A8C870}"/>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0520" b="10520"/>
          <a:stretch>
            <a:fillRect/>
          </a:stretch>
        </p:blipFill>
        <p:spPr bwMode="auto">
          <a:xfrm>
            <a:off x="10160000" y="365124"/>
            <a:ext cx="1193797" cy="869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102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154C2-3E7E-FE67-57A0-AAD76C92C17F}"/>
              </a:ext>
            </a:extLst>
          </p:cNvPr>
          <p:cNvSpPr>
            <a:spLocks noGrp="1"/>
          </p:cNvSpPr>
          <p:nvPr>
            <p:ph type="title"/>
          </p:nvPr>
        </p:nvSpPr>
        <p:spPr>
          <a:xfrm>
            <a:off x="838199" y="472224"/>
            <a:ext cx="9956801" cy="622740"/>
          </a:xfrm>
          <a:solidFill>
            <a:schemeClr val="accent2">
              <a:lumMod val="40000"/>
              <a:lumOff val="60000"/>
            </a:schemeClr>
          </a:solidFill>
          <a:ln>
            <a:solidFill>
              <a:schemeClr val="accent2">
                <a:lumMod val="75000"/>
              </a:schemeClr>
            </a:solidFill>
          </a:ln>
        </p:spPr>
        <p:txBody>
          <a:bodyPr>
            <a:normAutofit/>
          </a:bodyPr>
          <a:lstStyle/>
          <a:p>
            <a:pPr marL="342900" indent="-342900">
              <a:buFont typeface="Wingdings" panose="05000000000000000000" pitchFamily="2" charset="2"/>
              <a:buChar char="v"/>
            </a:pPr>
            <a:r>
              <a:rPr lang="en-US" sz="2400" dirty="0"/>
              <a:t>Insert Data into Columns of Table Using This Syntax</a:t>
            </a:r>
            <a:endParaRPr lang="en-IN" sz="2400" dirty="0"/>
          </a:p>
        </p:txBody>
      </p:sp>
      <p:pic>
        <p:nvPicPr>
          <p:cNvPr id="6" name="Content Placeholder 5">
            <a:extLst>
              <a:ext uri="{FF2B5EF4-FFF2-40B4-BE49-F238E27FC236}">
                <a16:creationId xmlns:a16="http://schemas.microsoft.com/office/drawing/2014/main" id="{5E36AB59-1930-3483-0E8C-5B9A65CB1CAF}"/>
              </a:ext>
            </a:extLst>
          </p:cNvPr>
          <p:cNvPicPr>
            <a:picLocks noGrp="1" noChangeAspect="1"/>
          </p:cNvPicPr>
          <p:nvPr>
            <p:ph sz="half" idx="1"/>
          </p:nvPr>
        </p:nvPicPr>
        <p:blipFill>
          <a:blip r:embed="rId2"/>
          <a:stretch>
            <a:fillRect/>
          </a:stretch>
        </p:blipFill>
        <p:spPr>
          <a:xfrm>
            <a:off x="838199" y="1374776"/>
            <a:ext cx="10236201" cy="1431924"/>
          </a:xfrm>
          <a:prstGeom prst="rect">
            <a:avLst/>
          </a:prstGeom>
          <a:ln>
            <a:solidFill>
              <a:schemeClr val="accent2">
                <a:lumMod val="75000"/>
              </a:schemeClr>
            </a:solidFill>
          </a:ln>
        </p:spPr>
      </p:pic>
      <p:pic>
        <p:nvPicPr>
          <p:cNvPr id="10" name="Picture 9">
            <a:extLst>
              <a:ext uri="{FF2B5EF4-FFF2-40B4-BE49-F238E27FC236}">
                <a16:creationId xmlns:a16="http://schemas.microsoft.com/office/drawing/2014/main" id="{889E63CD-680B-896B-6CBD-426334DE2076}"/>
              </a:ext>
            </a:extLst>
          </p:cNvPr>
          <p:cNvPicPr>
            <a:picLocks noChangeAspect="1"/>
          </p:cNvPicPr>
          <p:nvPr/>
        </p:nvPicPr>
        <p:blipFill>
          <a:blip r:embed="rId3"/>
          <a:stretch>
            <a:fillRect/>
          </a:stretch>
        </p:blipFill>
        <p:spPr>
          <a:xfrm>
            <a:off x="838199" y="3265414"/>
            <a:ext cx="10120315" cy="2217810"/>
          </a:xfrm>
          <a:prstGeom prst="rect">
            <a:avLst/>
          </a:prstGeom>
          <a:ln>
            <a:solidFill>
              <a:schemeClr val="accent2">
                <a:lumMod val="75000"/>
              </a:schemeClr>
            </a:solidFill>
          </a:ln>
        </p:spPr>
      </p:pic>
      <p:pic>
        <p:nvPicPr>
          <p:cNvPr id="13" name="Picture 8">
            <a:extLst>
              <a:ext uri="{FF2B5EF4-FFF2-40B4-BE49-F238E27FC236}">
                <a16:creationId xmlns:a16="http://schemas.microsoft.com/office/drawing/2014/main" id="{81D4364A-1334-3F58-744C-A14C106C4C4F}"/>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0520" b="10520"/>
          <a:stretch>
            <a:fillRect/>
          </a:stretch>
        </p:blipFill>
        <p:spPr bwMode="auto">
          <a:xfrm>
            <a:off x="10925840" y="410139"/>
            <a:ext cx="855922" cy="746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0024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B4CB0C2C-38BC-906B-D940-6A10CC1DC418}"/>
              </a:ext>
            </a:extLst>
          </p:cNvPr>
          <p:cNvSpPr txBox="1">
            <a:spLocks/>
          </p:cNvSpPr>
          <p:nvPr/>
        </p:nvSpPr>
        <p:spPr>
          <a:xfrm>
            <a:off x="838199" y="520701"/>
            <a:ext cx="9982201" cy="542924"/>
          </a:xfrm>
          <a:prstGeom prst="rect">
            <a:avLst/>
          </a:prstGeom>
          <a:solidFill>
            <a:schemeClr val="accent2">
              <a:lumMod val="40000"/>
              <a:lumOff val="60000"/>
            </a:schemeClr>
          </a:solidFill>
          <a:ln>
            <a:solidFill>
              <a:schemeClr val="accent2">
                <a:lumMod val="75000"/>
              </a:schemeClr>
            </a:solid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anose="05000000000000000000" pitchFamily="2" charset="2"/>
              <a:buChar char="v"/>
            </a:pPr>
            <a:r>
              <a:rPr lang="en-US" sz="2400" dirty="0"/>
              <a:t> Insert Data into Columns of Table Using This Syntax</a:t>
            </a:r>
            <a:endParaRPr lang="en-IN" sz="2400" dirty="0"/>
          </a:p>
        </p:txBody>
      </p:sp>
      <p:pic>
        <p:nvPicPr>
          <p:cNvPr id="12" name="Picture 11">
            <a:extLst>
              <a:ext uri="{FF2B5EF4-FFF2-40B4-BE49-F238E27FC236}">
                <a16:creationId xmlns:a16="http://schemas.microsoft.com/office/drawing/2014/main" id="{6D98A27C-F900-A64F-F399-E4E1114A6F5F}"/>
              </a:ext>
            </a:extLst>
          </p:cNvPr>
          <p:cNvPicPr>
            <a:picLocks noChangeAspect="1"/>
          </p:cNvPicPr>
          <p:nvPr/>
        </p:nvPicPr>
        <p:blipFill>
          <a:blip r:embed="rId2"/>
          <a:stretch>
            <a:fillRect/>
          </a:stretch>
        </p:blipFill>
        <p:spPr>
          <a:xfrm>
            <a:off x="838199" y="1332685"/>
            <a:ext cx="10521106" cy="1585911"/>
          </a:xfrm>
          <a:prstGeom prst="rect">
            <a:avLst/>
          </a:prstGeom>
          <a:ln>
            <a:solidFill>
              <a:schemeClr val="accent2">
                <a:lumMod val="75000"/>
              </a:schemeClr>
            </a:solidFill>
          </a:ln>
        </p:spPr>
      </p:pic>
      <p:pic>
        <p:nvPicPr>
          <p:cNvPr id="14" name="Picture 13">
            <a:extLst>
              <a:ext uri="{FF2B5EF4-FFF2-40B4-BE49-F238E27FC236}">
                <a16:creationId xmlns:a16="http://schemas.microsoft.com/office/drawing/2014/main" id="{636EF646-AE5C-156C-F06F-AFB2E30A6215}"/>
              </a:ext>
            </a:extLst>
          </p:cNvPr>
          <p:cNvPicPr>
            <a:picLocks noChangeAspect="1"/>
          </p:cNvPicPr>
          <p:nvPr/>
        </p:nvPicPr>
        <p:blipFill>
          <a:blip r:embed="rId3"/>
          <a:stretch>
            <a:fillRect/>
          </a:stretch>
        </p:blipFill>
        <p:spPr>
          <a:xfrm>
            <a:off x="838199" y="3536906"/>
            <a:ext cx="10391775" cy="1585912"/>
          </a:xfrm>
          <a:prstGeom prst="rect">
            <a:avLst/>
          </a:prstGeom>
          <a:ln>
            <a:solidFill>
              <a:schemeClr val="accent2">
                <a:lumMod val="75000"/>
              </a:schemeClr>
            </a:solidFill>
          </a:ln>
        </p:spPr>
      </p:pic>
      <p:pic>
        <p:nvPicPr>
          <p:cNvPr id="15" name="Picture 8">
            <a:extLst>
              <a:ext uri="{FF2B5EF4-FFF2-40B4-BE49-F238E27FC236}">
                <a16:creationId xmlns:a16="http://schemas.microsoft.com/office/drawing/2014/main" id="{3EEC66A3-7199-AC06-A8FE-A79FEEC5C114}"/>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0520" b="10520"/>
          <a:stretch>
            <a:fillRect/>
          </a:stretch>
        </p:blipFill>
        <p:spPr bwMode="auto">
          <a:xfrm>
            <a:off x="10925839" y="348055"/>
            <a:ext cx="855922" cy="746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389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18A2166-8761-F6E7-52A0-9848D50BB8CB}"/>
              </a:ext>
            </a:extLst>
          </p:cNvPr>
          <p:cNvSpPr txBox="1">
            <a:spLocks/>
          </p:cNvSpPr>
          <p:nvPr/>
        </p:nvSpPr>
        <p:spPr>
          <a:xfrm>
            <a:off x="838199" y="520701"/>
            <a:ext cx="9588501" cy="542924"/>
          </a:xfrm>
          <a:prstGeom prst="rect">
            <a:avLst/>
          </a:prstGeom>
          <a:solidFill>
            <a:schemeClr val="accent2">
              <a:lumMod val="40000"/>
              <a:lumOff val="60000"/>
            </a:schemeClr>
          </a:solidFill>
          <a:ln>
            <a:solidFill>
              <a:schemeClr val="accent2">
                <a:lumMod val="75000"/>
              </a:schemeClr>
            </a:solid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anose="05000000000000000000" pitchFamily="2" charset="2"/>
              <a:buChar char="v"/>
            </a:pPr>
            <a:r>
              <a:rPr lang="en-US" sz="2400" dirty="0"/>
              <a:t> Insert Data into Columns of Table Using This Syntax</a:t>
            </a:r>
            <a:endParaRPr lang="en-IN" sz="2400" dirty="0"/>
          </a:p>
        </p:txBody>
      </p:sp>
      <p:pic>
        <p:nvPicPr>
          <p:cNvPr id="6" name="Picture 8">
            <a:extLst>
              <a:ext uri="{FF2B5EF4-FFF2-40B4-BE49-F238E27FC236}">
                <a16:creationId xmlns:a16="http://schemas.microsoft.com/office/drawing/2014/main" id="{3D122D9A-D57C-FC2E-D49C-ED74509D2B8F}"/>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0520" b="10520"/>
          <a:stretch>
            <a:fillRect/>
          </a:stretch>
        </p:blipFill>
        <p:spPr bwMode="auto">
          <a:xfrm>
            <a:off x="10684539" y="316716"/>
            <a:ext cx="855922" cy="74690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725F1ED8-1280-E399-9A34-513C2E2378AA}"/>
              </a:ext>
            </a:extLst>
          </p:cNvPr>
          <p:cNvPicPr>
            <a:picLocks noChangeAspect="1"/>
          </p:cNvPicPr>
          <p:nvPr/>
        </p:nvPicPr>
        <p:blipFill>
          <a:blip r:embed="rId3"/>
          <a:stretch>
            <a:fillRect/>
          </a:stretch>
        </p:blipFill>
        <p:spPr>
          <a:xfrm>
            <a:off x="838199" y="1419168"/>
            <a:ext cx="9417452" cy="1311332"/>
          </a:xfrm>
          <a:prstGeom prst="rect">
            <a:avLst/>
          </a:prstGeom>
          <a:ln>
            <a:solidFill>
              <a:schemeClr val="accent2">
                <a:lumMod val="75000"/>
              </a:schemeClr>
            </a:solidFill>
          </a:ln>
        </p:spPr>
      </p:pic>
      <p:pic>
        <p:nvPicPr>
          <p:cNvPr id="17" name="Picture 16">
            <a:extLst>
              <a:ext uri="{FF2B5EF4-FFF2-40B4-BE49-F238E27FC236}">
                <a16:creationId xmlns:a16="http://schemas.microsoft.com/office/drawing/2014/main" id="{D5B799D1-2A85-C7CC-E14B-1D0A0A331E1B}"/>
              </a:ext>
            </a:extLst>
          </p:cNvPr>
          <p:cNvPicPr>
            <a:picLocks noChangeAspect="1"/>
          </p:cNvPicPr>
          <p:nvPr/>
        </p:nvPicPr>
        <p:blipFill>
          <a:blip r:embed="rId4"/>
          <a:stretch>
            <a:fillRect/>
          </a:stretch>
        </p:blipFill>
        <p:spPr>
          <a:xfrm>
            <a:off x="838199" y="3322593"/>
            <a:ext cx="9417452" cy="1609816"/>
          </a:xfrm>
          <a:prstGeom prst="rect">
            <a:avLst/>
          </a:prstGeom>
          <a:ln>
            <a:solidFill>
              <a:schemeClr val="accent2">
                <a:lumMod val="75000"/>
              </a:schemeClr>
            </a:solidFill>
          </a:ln>
        </p:spPr>
      </p:pic>
    </p:spTree>
    <p:extLst>
      <p:ext uri="{BB962C8B-B14F-4D97-AF65-F5344CB8AC3E}">
        <p14:creationId xmlns:p14="http://schemas.microsoft.com/office/powerpoint/2010/main" val="196576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F1EB1B-DC79-A986-CB78-7838DD1C95F0}"/>
              </a:ext>
            </a:extLst>
          </p:cNvPr>
          <p:cNvPicPr>
            <a:picLocks noChangeAspect="1"/>
          </p:cNvPicPr>
          <p:nvPr/>
        </p:nvPicPr>
        <p:blipFill>
          <a:blip r:embed="rId2"/>
          <a:stretch>
            <a:fillRect/>
          </a:stretch>
        </p:blipFill>
        <p:spPr>
          <a:xfrm>
            <a:off x="838199" y="1473916"/>
            <a:ext cx="9906001" cy="1421684"/>
          </a:xfrm>
          <a:prstGeom prst="rect">
            <a:avLst/>
          </a:prstGeom>
          <a:ln>
            <a:solidFill>
              <a:schemeClr val="accent2">
                <a:lumMod val="75000"/>
              </a:schemeClr>
            </a:solidFill>
          </a:ln>
        </p:spPr>
      </p:pic>
      <p:sp>
        <p:nvSpPr>
          <p:cNvPr id="6" name="Title 1">
            <a:extLst>
              <a:ext uri="{FF2B5EF4-FFF2-40B4-BE49-F238E27FC236}">
                <a16:creationId xmlns:a16="http://schemas.microsoft.com/office/drawing/2014/main" id="{D01C3511-6369-AC8D-6D2D-99E585E8DC65}"/>
              </a:ext>
            </a:extLst>
          </p:cNvPr>
          <p:cNvSpPr txBox="1">
            <a:spLocks/>
          </p:cNvSpPr>
          <p:nvPr/>
        </p:nvSpPr>
        <p:spPr>
          <a:xfrm>
            <a:off x="838199" y="520701"/>
            <a:ext cx="9906001" cy="542924"/>
          </a:xfrm>
          <a:prstGeom prst="rect">
            <a:avLst/>
          </a:prstGeom>
          <a:solidFill>
            <a:schemeClr val="accent2">
              <a:lumMod val="40000"/>
              <a:lumOff val="60000"/>
            </a:schemeClr>
          </a:solidFill>
          <a:ln>
            <a:solidFill>
              <a:schemeClr val="accent2">
                <a:lumMod val="75000"/>
              </a:schemeClr>
            </a:solid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anose="05000000000000000000" pitchFamily="2" charset="2"/>
              <a:buChar char="v"/>
            </a:pPr>
            <a:r>
              <a:rPr lang="en-US" sz="2400" dirty="0"/>
              <a:t> Insert Data into Columns of Table Using This Syntax</a:t>
            </a:r>
            <a:endParaRPr lang="en-IN" sz="2400" dirty="0"/>
          </a:p>
        </p:txBody>
      </p:sp>
      <p:pic>
        <p:nvPicPr>
          <p:cNvPr id="7" name="Picture 8">
            <a:extLst>
              <a:ext uri="{FF2B5EF4-FFF2-40B4-BE49-F238E27FC236}">
                <a16:creationId xmlns:a16="http://schemas.microsoft.com/office/drawing/2014/main" id="{DBD80913-DC73-4EFD-3105-4D6493887A30}"/>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520" b="10520"/>
          <a:stretch>
            <a:fillRect/>
          </a:stretch>
        </p:blipFill>
        <p:spPr bwMode="auto">
          <a:xfrm>
            <a:off x="10925840" y="395697"/>
            <a:ext cx="855922" cy="74690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02908BF-6EFC-F997-E555-FFB281A8AA36}"/>
              </a:ext>
            </a:extLst>
          </p:cNvPr>
          <p:cNvPicPr>
            <a:picLocks noChangeAspect="1"/>
          </p:cNvPicPr>
          <p:nvPr/>
        </p:nvPicPr>
        <p:blipFill>
          <a:blip r:embed="rId4"/>
          <a:srcRect l="583"/>
          <a:stretch>
            <a:fillRect/>
          </a:stretch>
        </p:blipFill>
        <p:spPr>
          <a:xfrm>
            <a:off x="838199" y="3192415"/>
            <a:ext cx="9906001" cy="1709785"/>
          </a:xfrm>
          <a:prstGeom prst="rect">
            <a:avLst/>
          </a:prstGeom>
          <a:ln>
            <a:solidFill>
              <a:schemeClr val="accent2">
                <a:lumMod val="75000"/>
              </a:schemeClr>
            </a:solidFill>
          </a:ln>
        </p:spPr>
      </p:pic>
    </p:spTree>
    <p:extLst>
      <p:ext uri="{BB962C8B-B14F-4D97-AF65-F5344CB8AC3E}">
        <p14:creationId xmlns:p14="http://schemas.microsoft.com/office/powerpoint/2010/main" val="4007761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BC0CD3-B2A7-23BE-4AF3-B61493FF3397}"/>
              </a:ext>
            </a:extLst>
          </p:cNvPr>
          <p:cNvPicPr>
            <a:picLocks noChangeAspect="1"/>
          </p:cNvPicPr>
          <p:nvPr/>
        </p:nvPicPr>
        <p:blipFill>
          <a:blip r:embed="rId2"/>
          <a:stretch>
            <a:fillRect/>
          </a:stretch>
        </p:blipFill>
        <p:spPr>
          <a:xfrm>
            <a:off x="838199" y="1460500"/>
            <a:ext cx="9144000" cy="1676400"/>
          </a:xfrm>
          <a:prstGeom prst="rect">
            <a:avLst/>
          </a:prstGeom>
          <a:solidFill>
            <a:schemeClr val="accent2">
              <a:lumMod val="40000"/>
              <a:lumOff val="60000"/>
            </a:schemeClr>
          </a:solidFill>
          <a:ln>
            <a:solidFill>
              <a:schemeClr val="accent2">
                <a:lumMod val="75000"/>
              </a:schemeClr>
            </a:solidFill>
          </a:ln>
        </p:spPr>
      </p:pic>
      <p:sp>
        <p:nvSpPr>
          <p:cNvPr id="6" name="Title 1">
            <a:extLst>
              <a:ext uri="{FF2B5EF4-FFF2-40B4-BE49-F238E27FC236}">
                <a16:creationId xmlns:a16="http://schemas.microsoft.com/office/drawing/2014/main" id="{CF14087F-F8A7-8292-049C-E916B7545AB7}"/>
              </a:ext>
            </a:extLst>
          </p:cNvPr>
          <p:cNvSpPr txBox="1">
            <a:spLocks/>
          </p:cNvSpPr>
          <p:nvPr/>
        </p:nvSpPr>
        <p:spPr>
          <a:xfrm>
            <a:off x="838199" y="520701"/>
            <a:ext cx="9715501" cy="542924"/>
          </a:xfrm>
          <a:prstGeom prst="rect">
            <a:avLst/>
          </a:prstGeom>
          <a:solidFill>
            <a:schemeClr val="accent2">
              <a:lumMod val="40000"/>
              <a:lumOff val="60000"/>
            </a:schemeClr>
          </a:solidFill>
          <a:ln>
            <a:solidFill>
              <a:schemeClr val="accent2">
                <a:lumMod val="75000"/>
              </a:schemeClr>
            </a:solid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anose="05000000000000000000" pitchFamily="2" charset="2"/>
              <a:buChar char="v"/>
            </a:pPr>
            <a:r>
              <a:rPr lang="en-US" sz="2400" dirty="0"/>
              <a:t> Insert Data into Columns of Table Using This Syntax</a:t>
            </a:r>
            <a:endParaRPr lang="en-IN" sz="2400" dirty="0"/>
          </a:p>
        </p:txBody>
      </p:sp>
      <p:pic>
        <p:nvPicPr>
          <p:cNvPr id="7" name="Picture 8">
            <a:extLst>
              <a:ext uri="{FF2B5EF4-FFF2-40B4-BE49-F238E27FC236}">
                <a16:creationId xmlns:a16="http://schemas.microsoft.com/office/drawing/2014/main" id="{3E8CC498-DA60-2112-198E-1B1028E80D88}"/>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520" b="10520"/>
          <a:stretch>
            <a:fillRect/>
          </a:stretch>
        </p:blipFill>
        <p:spPr bwMode="auto">
          <a:xfrm>
            <a:off x="10925840" y="395697"/>
            <a:ext cx="855922" cy="74690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93F29CF6-5E11-5DB0-CBDE-F84150402733}"/>
              </a:ext>
            </a:extLst>
          </p:cNvPr>
          <p:cNvPicPr>
            <a:picLocks noChangeAspect="1"/>
          </p:cNvPicPr>
          <p:nvPr/>
        </p:nvPicPr>
        <p:blipFill>
          <a:blip r:embed="rId4"/>
          <a:stretch>
            <a:fillRect/>
          </a:stretch>
        </p:blipFill>
        <p:spPr>
          <a:xfrm>
            <a:off x="838198" y="3392442"/>
            <a:ext cx="9143999" cy="1420858"/>
          </a:xfrm>
          <a:prstGeom prst="rect">
            <a:avLst/>
          </a:prstGeom>
          <a:ln>
            <a:solidFill>
              <a:schemeClr val="accent2">
                <a:lumMod val="75000"/>
              </a:schemeClr>
            </a:solidFill>
          </a:ln>
        </p:spPr>
      </p:pic>
    </p:spTree>
    <p:extLst>
      <p:ext uri="{BB962C8B-B14F-4D97-AF65-F5344CB8AC3E}">
        <p14:creationId xmlns:p14="http://schemas.microsoft.com/office/powerpoint/2010/main" val="378355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C17D4-B1AB-7B4E-01D7-12D9EDB2578A}"/>
              </a:ext>
            </a:extLst>
          </p:cNvPr>
          <p:cNvSpPr>
            <a:spLocks noGrp="1"/>
          </p:cNvSpPr>
          <p:nvPr>
            <p:ph type="title"/>
          </p:nvPr>
        </p:nvSpPr>
        <p:spPr>
          <a:xfrm>
            <a:off x="848389" y="792956"/>
            <a:ext cx="10077450" cy="1935163"/>
          </a:xfrm>
          <a:solidFill>
            <a:schemeClr val="accent1">
              <a:lumMod val="20000"/>
              <a:lumOff val="80000"/>
            </a:schemeClr>
          </a:solidFill>
          <a:ln>
            <a:solidFill>
              <a:schemeClr val="accent6">
                <a:lumMod val="60000"/>
                <a:lumOff val="40000"/>
              </a:schemeClr>
            </a:solidFill>
          </a:ln>
        </p:spPr>
        <p:txBody>
          <a:bodyPr>
            <a:normAutofit fontScale="90000"/>
          </a:bodyPr>
          <a:lstStyle/>
          <a:p>
            <a:pPr marL="571500" indent="-571500" algn="just">
              <a:buFont typeface="Wingdings" panose="05000000000000000000" pitchFamily="2" charset="2"/>
              <a:buChar char="v"/>
            </a:pPr>
            <a:r>
              <a:rPr lang="en-US" sz="2700" dirty="0">
                <a:solidFill>
                  <a:schemeClr val="accent1">
                    <a:lumMod val="50000"/>
                  </a:schemeClr>
                </a:solidFill>
              </a:rPr>
              <a:t>To add entries (such as new columns) to the players table using the ALTER function in SQL, the correct approach is to use the ALTER TABLE statement. Note that ALTER TABLE is used for changing the structure of the table (for example, adding/removing columns), not for inserting records. To insert data (entries), use the INSERT INTO statement.</a:t>
            </a:r>
            <a:endParaRPr lang="en-IN" sz="2700" dirty="0">
              <a:solidFill>
                <a:schemeClr val="accent1">
                  <a:lumMod val="50000"/>
                </a:schemeClr>
              </a:solidFill>
            </a:endParaRPr>
          </a:p>
        </p:txBody>
      </p:sp>
      <p:sp>
        <p:nvSpPr>
          <p:cNvPr id="5" name="TextBox 4">
            <a:extLst>
              <a:ext uri="{FF2B5EF4-FFF2-40B4-BE49-F238E27FC236}">
                <a16:creationId xmlns:a16="http://schemas.microsoft.com/office/drawing/2014/main" id="{1467BC51-5DB0-E4F0-C000-E0C273F8F4DB}"/>
              </a:ext>
            </a:extLst>
          </p:cNvPr>
          <p:cNvSpPr txBox="1"/>
          <p:nvPr/>
        </p:nvSpPr>
        <p:spPr>
          <a:xfrm>
            <a:off x="848389" y="2875002"/>
            <a:ext cx="10077450" cy="369332"/>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r>
              <a:rPr lang="en-US" dirty="0"/>
              <a:t>ALTER TABLE players ADD COLUMN column_name datatype;</a:t>
            </a:r>
          </a:p>
        </p:txBody>
      </p:sp>
      <p:pic>
        <p:nvPicPr>
          <p:cNvPr id="6" name="Picture 8">
            <a:extLst>
              <a:ext uri="{FF2B5EF4-FFF2-40B4-BE49-F238E27FC236}">
                <a16:creationId xmlns:a16="http://schemas.microsoft.com/office/drawing/2014/main" id="{D741C1BB-7B44-013D-1CE2-DE84E1844143}"/>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0520" b="10520"/>
          <a:stretch>
            <a:fillRect/>
          </a:stretch>
        </p:blipFill>
        <p:spPr bwMode="auto">
          <a:xfrm>
            <a:off x="10925839" y="226228"/>
            <a:ext cx="855922" cy="74690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90FB414-9FF0-0E2E-69DA-EC77351D4494}"/>
              </a:ext>
            </a:extLst>
          </p:cNvPr>
          <p:cNvSpPr txBox="1"/>
          <p:nvPr/>
        </p:nvSpPr>
        <p:spPr>
          <a:xfrm>
            <a:off x="848389" y="3835796"/>
            <a:ext cx="9271000" cy="1434367"/>
          </a:xfrm>
          <a:prstGeom prst="rect">
            <a:avLst/>
          </a:prstGeom>
          <a:solidFill>
            <a:schemeClr val="accent1">
              <a:lumMod val="20000"/>
              <a:lumOff val="80000"/>
            </a:schemeClr>
          </a:solidFill>
          <a:ln>
            <a:solidFill>
              <a:schemeClr val="accent2">
                <a:lumMod val="75000"/>
              </a:schemeClr>
            </a:solidFill>
          </a:ln>
        </p:spPr>
        <p:txBody>
          <a:bodyPr wrap="square" rtlCol="0">
            <a:spAutoFit/>
          </a:bodyPr>
          <a:lstStyle/>
          <a:p>
            <a:pPr marL="285750" indent="-285750">
              <a:buFont typeface="Wingdings" panose="05000000000000000000" pitchFamily="2" charset="2"/>
              <a:buChar char="Ø"/>
            </a:pPr>
            <a:r>
              <a:rPr lang="en-US" b="1" dirty="0"/>
              <a:t>USE this syntax for drop database or table;</a:t>
            </a:r>
          </a:p>
          <a:p>
            <a:pPr marL="285750" indent="-285750">
              <a:buFont typeface="Wingdings" panose="05000000000000000000" pitchFamily="2" charset="2"/>
              <a:buChar char="Ø"/>
            </a:pPr>
            <a:endParaRPr lang="en-US" b="1" dirty="0"/>
          </a:p>
          <a:p>
            <a:pPr>
              <a:lnSpc>
                <a:spcPct val="150000"/>
              </a:lnSpc>
            </a:pPr>
            <a:r>
              <a:rPr lang="en-US" dirty="0"/>
              <a:t>DROP database databse_name;                  --use for drop database</a:t>
            </a:r>
            <a:endParaRPr lang="en-IN" dirty="0"/>
          </a:p>
          <a:p>
            <a:pPr>
              <a:lnSpc>
                <a:spcPct val="150000"/>
              </a:lnSpc>
            </a:pPr>
            <a:r>
              <a:rPr lang="en-IN" dirty="0"/>
              <a:t>DROP TABLE table_name;                             </a:t>
            </a:r>
            <a:r>
              <a:rPr lang="en-US" dirty="0"/>
              <a:t>--use for drop table</a:t>
            </a:r>
            <a:endParaRPr lang="en-IN" dirty="0"/>
          </a:p>
        </p:txBody>
      </p:sp>
    </p:spTree>
    <p:extLst>
      <p:ext uri="{BB962C8B-B14F-4D97-AF65-F5344CB8AC3E}">
        <p14:creationId xmlns:p14="http://schemas.microsoft.com/office/powerpoint/2010/main" val="195809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8FDCD-3C1D-8D67-8942-8F95532225A9}"/>
              </a:ext>
            </a:extLst>
          </p:cNvPr>
          <p:cNvSpPr>
            <a:spLocks noGrp="1"/>
          </p:cNvSpPr>
          <p:nvPr>
            <p:ph type="title"/>
          </p:nvPr>
        </p:nvSpPr>
        <p:spPr>
          <a:xfrm>
            <a:off x="838200" y="365125"/>
            <a:ext cx="10515600" cy="868589"/>
          </a:xfrm>
          <a:solidFill>
            <a:schemeClr val="accent2">
              <a:lumMod val="60000"/>
              <a:lumOff val="40000"/>
            </a:schemeClr>
          </a:solidFill>
          <a:ln>
            <a:solidFill>
              <a:schemeClr val="accent2">
                <a:lumMod val="75000"/>
              </a:schemeClr>
            </a:solidFill>
          </a:ln>
        </p:spPr>
        <p:txBody>
          <a:bodyPr>
            <a:normAutofit/>
          </a:bodyPr>
          <a:lstStyle/>
          <a:p>
            <a:r>
              <a:rPr lang="en-US" sz="2400" b="1" dirty="0">
                <a:solidFill>
                  <a:schemeClr val="accent1">
                    <a:lumMod val="50000"/>
                  </a:schemeClr>
                </a:solidFill>
              </a:rPr>
              <a:t>Q1. Find the average age of players, and also the youngest and oldest player.</a:t>
            </a:r>
            <a:endParaRPr lang="en-IN" sz="2400" b="1" dirty="0">
              <a:solidFill>
                <a:schemeClr val="accent1">
                  <a:lumMod val="50000"/>
                </a:schemeClr>
              </a:solidFill>
            </a:endParaRPr>
          </a:p>
        </p:txBody>
      </p:sp>
      <p:sp>
        <p:nvSpPr>
          <p:cNvPr id="3" name="Content Placeholder 2">
            <a:extLst>
              <a:ext uri="{FF2B5EF4-FFF2-40B4-BE49-F238E27FC236}">
                <a16:creationId xmlns:a16="http://schemas.microsoft.com/office/drawing/2014/main" id="{538BC118-5D79-AEEE-8632-DF4B08960CF2}"/>
              </a:ext>
            </a:extLst>
          </p:cNvPr>
          <p:cNvSpPr>
            <a:spLocks noGrp="1"/>
          </p:cNvSpPr>
          <p:nvPr>
            <p:ph sz="half" idx="1"/>
          </p:nvPr>
        </p:nvSpPr>
        <p:spPr>
          <a:xfrm>
            <a:off x="838200" y="1919163"/>
            <a:ext cx="5181600" cy="2823867"/>
          </a:xfrm>
          <a:solidFill>
            <a:schemeClr val="bg1"/>
          </a:solidFill>
          <a:ln>
            <a:solidFill>
              <a:schemeClr val="accent2">
                <a:lumMod val="75000"/>
              </a:schemeClr>
            </a:solidFill>
          </a:ln>
        </p:spPr>
        <p:txBody>
          <a:bodyPr>
            <a:normAutofit/>
          </a:bodyPr>
          <a:lstStyle/>
          <a:p>
            <a:pPr marL="0" indent="0">
              <a:buNone/>
            </a:pPr>
            <a:r>
              <a:rPr lang="en-US" dirty="0"/>
              <a:t>SELECT </a:t>
            </a:r>
          </a:p>
          <a:p>
            <a:pPr marL="0" indent="0">
              <a:buNone/>
            </a:pPr>
            <a:r>
              <a:rPr lang="en-US" dirty="0"/>
              <a:t>     AVG(age),</a:t>
            </a:r>
          </a:p>
          <a:p>
            <a:pPr marL="0" indent="0">
              <a:buNone/>
            </a:pPr>
            <a:r>
              <a:rPr lang="en-US" dirty="0"/>
              <a:t>     MIN(age),</a:t>
            </a:r>
          </a:p>
          <a:p>
            <a:pPr marL="0" indent="0">
              <a:buNone/>
            </a:pPr>
            <a:r>
              <a:rPr lang="en-US" dirty="0"/>
              <a:t>     MAX(age)</a:t>
            </a:r>
          </a:p>
          <a:p>
            <a:pPr marL="0" indent="0">
              <a:buNone/>
            </a:pPr>
            <a:r>
              <a:rPr lang="en-US" dirty="0"/>
              <a:t>FROM Players;</a:t>
            </a:r>
          </a:p>
          <a:p>
            <a:pPr marL="0" indent="0">
              <a:buNone/>
            </a:pPr>
            <a:endParaRPr lang="en-IN" dirty="0"/>
          </a:p>
        </p:txBody>
      </p:sp>
      <p:pic>
        <p:nvPicPr>
          <p:cNvPr id="15" name="Content Placeholder 14">
            <a:extLst>
              <a:ext uri="{FF2B5EF4-FFF2-40B4-BE49-F238E27FC236}">
                <a16:creationId xmlns:a16="http://schemas.microsoft.com/office/drawing/2014/main" id="{EEF7FDB1-7D44-631D-E8D7-195354ED672B}"/>
              </a:ext>
            </a:extLst>
          </p:cNvPr>
          <p:cNvPicPr>
            <a:picLocks noGrp="1" noChangeAspect="1"/>
          </p:cNvPicPr>
          <p:nvPr>
            <p:ph sz="half" idx="2"/>
          </p:nvPr>
        </p:nvPicPr>
        <p:blipFill>
          <a:blip r:embed="rId2"/>
          <a:srcRect l="464"/>
          <a:stretch>
            <a:fillRect/>
          </a:stretch>
        </p:blipFill>
        <p:spPr>
          <a:xfrm>
            <a:off x="6360764" y="1981704"/>
            <a:ext cx="4658531" cy="1041561"/>
          </a:xfrm>
          <a:prstGeom prst="rect">
            <a:avLst/>
          </a:prstGeom>
          <a:ln>
            <a:solidFill>
              <a:schemeClr val="tx1"/>
            </a:solidFill>
          </a:ln>
        </p:spPr>
      </p:pic>
      <p:sp>
        <p:nvSpPr>
          <p:cNvPr id="19" name="TextBox 18">
            <a:extLst>
              <a:ext uri="{FF2B5EF4-FFF2-40B4-BE49-F238E27FC236}">
                <a16:creationId xmlns:a16="http://schemas.microsoft.com/office/drawing/2014/main" id="{E1BBBD37-4631-CE2C-3311-F25C046014D9}"/>
              </a:ext>
            </a:extLst>
          </p:cNvPr>
          <p:cNvSpPr txBox="1"/>
          <p:nvPr/>
        </p:nvSpPr>
        <p:spPr>
          <a:xfrm>
            <a:off x="838200" y="1549831"/>
            <a:ext cx="1019749" cy="369332"/>
          </a:xfrm>
          <a:prstGeom prst="rect">
            <a:avLst/>
          </a:prstGeom>
          <a:solidFill>
            <a:schemeClr val="bg1">
              <a:lumMod val="95000"/>
            </a:schemeClr>
          </a:solidFill>
          <a:ln>
            <a:solidFill>
              <a:schemeClr val="accent1">
                <a:lumMod val="50000"/>
              </a:schemeClr>
            </a:solidFill>
          </a:ln>
        </p:spPr>
        <p:txBody>
          <a:bodyPr wrap="square" rtlCol="0">
            <a:spAutoFit/>
          </a:bodyPr>
          <a:lstStyle/>
          <a:p>
            <a:r>
              <a:rPr lang="en-US" dirty="0"/>
              <a:t>Syntax:-</a:t>
            </a:r>
            <a:endParaRPr lang="en-IN" dirty="0"/>
          </a:p>
        </p:txBody>
      </p:sp>
      <p:sp>
        <p:nvSpPr>
          <p:cNvPr id="20" name="TextBox 19">
            <a:extLst>
              <a:ext uri="{FF2B5EF4-FFF2-40B4-BE49-F238E27FC236}">
                <a16:creationId xmlns:a16="http://schemas.microsoft.com/office/drawing/2014/main" id="{2F336142-2DD7-853E-CCE7-163E2E1EE664}"/>
              </a:ext>
            </a:extLst>
          </p:cNvPr>
          <p:cNvSpPr txBox="1"/>
          <p:nvPr/>
        </p:nvSpPr>
        <p:spPr>
          <a:xfrm>
            <a:off x="6360764" y="1612372"/>
            <a:ext cx="1019749" cy="369332"/>
          </a:xfrm>
          <a:prstGeom prst="rect">
            <a:avLst/>
          </a:prstGeom>
          <a:solidFill>
            <a:schemeClr val="bg1">
              <a:lumMod val="95000"/>
            </a:schemeClr>
          </a:solidFill>
          <a:ln>
            <a:solidFill>
              <a:schemeClr val="accent1">
                <a:lumMod val="50000"/>
              </a:schemeClr>
            </a:solidFill>
          </a:ln>
        </p:spPr>
        <p:txBody>
          <a:bodyPr wrap="square" rtlCol="0">
            <a:spAutoFit/>
          </a:bodyPr>
          <a:lstStyle/>
          <a:p>
            <a:r>
              <a:rPr lang="en-US" dirty="0"/>
              <a:t>Output:-</a:t>
            </a:r>
            <a:endParaRPr lang="en-IN" dirty="0"/>
          </a:p>
        </p:txBody>
      </p:sp>
    </p:spTree>
    <p:extLst>
      <p:ext uri="{BB962C8B-B14F-4D97-AF65-F5344CB8AC3E}">
        <p14:creationId xmlns:p14="http://schemas.microsoft.com/office/powerpoint/2010/main" val="4234572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32DD89-2179-E510-B936-09CAD439C27C}"/>
              </a:ext>
            </a:extLst>
          </p:cNvPr>
          <p:cNvSpPr>
            <a:spLocks noGrp="1"/>
          </p:cNvSpPr>
          <p:nvPr>
            <p:ph sz="half" idx="1"/>
          </p:nvPr>
        </p:nvSpPr>
        <p:spPr>
          <a:xfrm>
            <a:off x="838200" y="1825625"/>
            <a:ext cx="5181600" cy="2158546"/>
          </a:xfrm>
          <a:solidFill>
            <a:schemeClr val="bg1">
              <a:lumMod val="95000"/>
            </a:schemeClr>
          </a:solidFill>
          <a:ln>
            <a:solidFill>
              <a:schemeClr val="accent2">
                <a:lumMod val="75000"/>
              </a:schemeClr>
            </a:solidFill>
          </a:ln>
        </p:spPr>
        <p:txBody>
          <a:bodyPr/>
          <a:lstStyle/>
          <a:p>
            <a:pPr marL="0" indent="0">
              <a:buNone/>
            </a:pPr>
            <a:r>
              <a:rPr lang="en-US" dirty="0"/>
              <a:t>SELECT team_name, total_wins</a:t>
            </a:r>
          </a:p>
          <a:p>
            <a:pPr marL="0" indent="0">
              <a:buNone/>
            </a:pPr>
            <a:r>
              <a:rPr lang="en-US" dirty="0"/>
              <a:t>FROM Teams</a:t>
            </a:r>
          </a:p>
          <a:p>
            <a:pPr marL="0" indent="0">
              <a:buNone/>
            </a:pPr>
            <a:r>
              <a:rPr lang="en-US" dirty="0"/>
              <a:t>ORDER BY total_wins DESC</a:t>
            </a:r>
          </a:p>
          <a:p>
            <a:pPr marL="0" indent="0">
              <a:buNone/>
            </a:pPr>
            <a:r>
              <a:rPr lang="en-US" dirty="0"/>
              <a:t>LIMIT 5;</a:t>
            </a:r>
            <a:endParaRPr lang="en-IN" dirty="0"/>
          </a:p>
        </p:txBody>
      </p:sp>
      <p:pic>
        <p:nvPicPr>
          <p:cNvPr id="9" name="Content Placeholder 8">
            <a:extLst>
              <a:ext uri="{FF2B5EF4-FFF2-40B4-BE49-F238E27FC236}">
                <a16:creationId xmlns:a16="http://schemas.microsoft.com/office/drawing/2014/main" id="{E540C046-C047-AEF1-F2B4-AFD6AEFD1409}"/>
              </a:ext>
            </a:extLst>
          </p:cNvPr>
          <p:cNvPicPr>
            <a:picLocks noGrp="1" noChangeAspect="1"/>
          </p:cNvPicPr>
          <p:nvPr>
            <p:ph sz="half" idx="2"/>
          </p:nvPr>
        </p:nvPicPr>
        <p:blipFill>
          <a:blip r:embed="rId2"/>
          <a:srcRect l="2319"/>
          <a:stretch>
            <a:fillRect/>
          </a:stretch>
        </p:blipFill>
        <p:spPr>
          <a:xfrm>
            <a:off x="6753496" y="1825625"/>
            <a:ext cx="4402183" cy="2158546"/>
          </a:xfrm>
          <a:prstGeom prst="rect">
            <a:avLst/>
          </a:prstGeom>
          <a:ln>
            <a:solidFill>
              <a:schemeClr val="accent2">
                <a:lumMod val="75000"/>
              </a:schemeClr>
            </a:solidFill>
          </a:ln>
        </p:spPr>
      </p:pic>
      <p:sp>
        <p:nvSpPr>
          <p:cNvPr id="5" name="Title 1">
            <a:extLst>
              <a:ext uri="{FF2B5EF4-FFF2-40B4-BE49-F238E27FC236}">
                <a16:creationId xmlns:a16="http://schemas.microsoft.com/office/drawing/2014/main" id="{072D7ED5-9AF5-53E5-FCDC-57C063C2B514}"/>
              </a:ext>
            </a:extLst>
          </p:cNvPr>
          <p:cNvSpPr>
            <a:spLocks noGrp="1"/>
          </p:cNvSpPr>
          <p:nvPr>
            <p:ph type="title"/>
          </p:nvPr>
        </p:nvSpPr>
        <p:spPr>
          <a:xfrm>
            <a:off x="838200" y="365125"/>
            <a:ext cx="10515600" cy="868589"/>
          </a:xfrm>
          <a:solidFill>
            <a:schemeClr val="accent2">
              <a:lumMod val="60000"/>
              <a:lumOff val="40000"/>
            </a:schemeClr>
          </a:solidFill>
          <a:ln>
            <a:solidFill>
              <a:schemeClr val="accent2">
                <a:lumMod val="75000"/>
              </a:schemeClr>
            </a:solidFill>
          </a:ln>
        </p:spPr>
        <p:txBody>
          <a:bodyPr>
            <a:normAutofit/>
          </a:bodyPr>
          <a:lstStyle/>
          <a:p>
            <a:r>
              <a:rPr lang="en-US" sz="2400" b="1" dirty="0">
                <a:solidFill>
                  <a:schemeClr val="accent1">
                    <a:lumMod val="50000"/>
                  </a:schemeClr>
                </a:solidFill>
              </a:rPr>
              <a:t>Q2. Write a query of  the top 5 teams with the highest total wins.</a:t>
            </a:r>
            <a:endParaRPr lang="en-IN" sz="2400" b="1" dirty="0">
              <a:solidFill>
                <a:schemeClr val="accent1">
                  <a:lumMod val="50000"/>
                </a:schemeClr>
              </a:solidFill>
            </a:endParaRPr>
          </a:p>
        </p:txBody>
      </p:sp>
      <p:sp>
        <p:nvSpPr>
          <p:cNvPr id="13" name="TextBox 12">
            <a:extLst>
              <a:ext uri="{FF2B5EF4-FFF2-40B4-BE49-F238E27FC236}">
                <a16:creationId xmlns:a16="http://schemas.microsoft.com/office/drawing/2014/main" id="{FBB75EEA-5C55-1866-2B94-B4056EB8B758}"/>
              </a:ext>
            </a:extLst>
          </p:cNvPr>
          <p:cNvSpPr txBox="1"/>
          <p:nvPr/>
        </p:nvSpPr>
        <p:spPr>
          <a:xfrm>
            <a:off x="838200" y="1436699"/>
            <a:ext cx="1264920" cy="369332"/>
          </a:xfrm>
          <a:prstGeom prst="rect">
            <a:avLst/>
          </a:prstGeom>
          <a:solidFill>
            <a:schemeClr val="bg1">
              <a:lumMod val="95000"/>
            </a:schemeClr>
          </a:solidFill>
          <a:ln>
            <a:solidFill>
              <a:schemeClr val="accent1">
                <a:lumMod val="75000"/>
              </a:schemeClr>
            </a:solidFill>
          </a:ln>
        </p:spPr>
        <p:txBody>
          <a:bodyPr wrap="square">
            <a:spAutoFit/>
          </a:bodyPr>
          <a:lstStyle/>
          <a:p>
            <a:r>
              <a:rPr lang="en-US" dirty="0"/>
              <a:t>Syntax:-</a:t>
            </a:r>
            <a:endParaRPr lang="en-IN" dirty="0"/>
          </a:p>
        </p:txBody>
      </p:sp>
      <p:sp>
        <p:nvSpPr>
          <p:cNvPr id="15" name="TextBox 14">
            <a:extLst>
              <a:ext uri="{FF2B5EF4-FFF2-40B4-BE49-F238E27FC236}">
                <a16:creationId xmlns:a16="http://schemas.microsoft.com/office/drawing/2014/main" id="{F08D09CA-D96B-D5C1-71A0-B5411C20543D}"/>
              </a:ext>
            </a:extLst>
          </p:cNvPr>
          <p:cNvSpPr txBox="1"/>
          <p:nvPr/>
        </p:nvSpPr>
        <p:spPr>
          <a:xfrm>
            <a:off x="6648994" y="1436699"/>
            <a:ext cx="1002574" cy="369332"/>
          </a:xfrm>
          <a:prstGeom prst="rect">
            <a:avLst/>
          </a:prstGeom>
          <a:solidFill>
            <a:schemeClr val="bg1">
              <a:lumMod val="95000"/>
            </a:schemeClr>
          </a:solidFill>
          <a:ln>
            <a:solidFill>
              <a:schemeClr val="accent1">
                <a:lumMod val="75000"/>
              </a:schemeClr>
            </a:solidFill>
          </a:ln>
        </p:spPr>
        <p:txBody>
          <a:bodyPr wrap="square">
            <a:spAutoFit/>
          </a:bodyPr>
          <a:lstStyle/>
          <a:p>
            <a:r>
              <a:rPr lang="en-US" dirty="0"/>
              <a:t>Output:-</a:t>
            </a:r>
            <a:endParaRPr lang="en-IN" dirty="0"/>
          </a:p>
        </p:txBody>
      </p:sp>
    </p:spTree>
    <p:extLst>
      <p:ext uri="{BB962C8B-B14F-4D97-AF65-F5344CB8AC3E}">
        <p14:creationId xmlns:p14="http://schemas.microsoft.com/office/powerpoint/2010/main" val="476858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D3B255-094E-BF1F-F3EB-124D936628A7}"/>
              </a:ext>
            </a:extLst>
          </p:cNvPr>
          <p:cNvSpPr>
            <a:spLocks noGrp="1"/>
          </p:cNvSpPr>
          <p:nvPr>
            <p:ph sz="half" idx="1"/>
          </p:nvPr>
        </p:nvSpPr>
        <p:spPr>
          <a:xfrm>
            <a:off x="838200" y="1825625"/>
            <a:ext cx="5181600" cy="3660775"/>
          </a:xfrm>
          <a:solidFill>
            <a:schemeClr val="bg1"/>
          </a:solidFill>
          <a:ln>
            <a:solidFill>
              <a:schemeClr val="accent2">
                <a:lumMod val="75000"/>
              </a:schemeClr>
            </a:solidFill>
          </a:ln>
        </p:spPr>
        <p:txBody>
          <a:bodyPr/>
          <a:lstStyle/>
          <a:p>
            <a:pPr marL="0" indent="0">
              <a:buNone/>
            </a:pPr>
            <a:r>
              <a:rPr lang="en-US" dirty="0"/>
              <a:t>SELECT tournament_name, location, prize_pool</a:t>
            </a:r>
          </a:p>
          <a:p>
            <a:pPr marL="0" indent="0">
              <a:buNone/>
            </a:pPr>
            <a:r>
              <a:rPr lang="en-US" dirty="0"/>
              <a:t>FROM Tournaments</a:t>
            </a:r>
          </a:p>
          <a:p>
            <a:pPr marL="0" indent="0">
              <a:buNone/>
            </a:pPr>
            <a:r>
              <a:rPr lang="en-US" dirty="0"/>
              <a:t>WHERE prize_pool &gt; (</a:t>
            </a:r>
          </a:p>
          <a:p>
            <a:pPr marL="0" indent="0">
              <a:buNone/>
            </a:pPr>
            <a:r>
              <a:rPr lang="en-US" dirty="0"/>
              <a:t>    SELECT AVG(prize_pool) </a:t>
            </a:r>
          </a:p>
          <a:p>
            <a:pPr marL="0" indent="0">
              <a:buNone/>
            </a:pPr>
            <a:r>
              <a:rPr lang="en-US" dirty="0"/>
              <a:t>    FROM Tournaments</a:t>
            </a:r>
          </a:p>
          <a:p>
            <a:pPr marL="0" indent="0">
              <a:buNone/>
            </a:pPr>
            <a:r>
              <a:rPr lang="en-US" dirty="0"/>
              <a:t>);</a:t>
            </a:r>
          </a:p>
          <a:p>
            <a:endParaRPr lang="en-IN" dirty="0"/>
          </a:p>
        </p:txBody>
      </p:sp>
      <p:pic>
        <p:nvPicPr>
          <p:cNvPr id="6" name="Content Placeholder 5">
            <a:extLst>
              <a:ext uri="{FF2B5EF4-FFF2-40B4-BE49-F238E27FC236}">
                <a16:creationId xmlns:a16="http://schemas.microsoft.com/office/drawing/2014/main" id="{09311631-EB8A-77AE-DF77-1F6BA9D5C475}"/>
              </a:ext>
            </a:extLst>
          </p:cNvPr>
          <p:cNvPicPr>
            <a:picLocks noGrp="1" noChangeAspect="1"/>
          </p:cNvPicPr>
          <p:nvPr>
            <p:ph sz="half" idx="2"/>
          </p:nvPr>
        </p:nvPicPr>
        <p:blipFill>
          <a:blip r:embed="rId2"/>
          <a:stretch>
            <a:fillRect/>
          </a:stretch>
        </p:blipFill>
        <p:spPr>
          <a:xfrm>
            <a:off x="6172200" y="1825624"/>
            <a:ext cx="5181600" cy="3660775"/>
          </a:xfrm>
          <a:prstGeom prst="rect">
            <a:avLst/>
          </a:prstGeom>
          <a:ln>
            <a:solidFill>
              <a:schemeClr val="accent2">
                <a:lumMod val="75000"/>
              </a:schemeClr>
            </a:solidFill>
          </a:ln>
        </p:spPr>
      </p:pic>
      <p:sp>
        <p:nvSpPr>
          <p:cNvPr id="5" name="Title 1">
            <a:extLst>
              <a:ext uri="{FF2B5EF4-FFF2-40B4-BE49-F238E27FC236}">
                <a16:creationId xmlns:a16="http://schemas.microsoft.com/office/drawing/2014/main" id="{7489A6F0-0B2E-93EB-A102-DAEDA69B2E1F}"/>
              </a:ext>
            </a:extLst>
          </p:cNvPr>
          <p:cNvSpPr>
            <a:spLocks noGrp="1"/>
          </p:cNvSpPr>
          <p:nvPr>
            <p:ph type="title"/>
          </p:nvPr>
        </p:nvSpPr>
        <p:spPr>
          <a:xfrm>
            <a:off x="838200" y="365125"/>
            <a:ext cx="10515600" cy="1325563"/>
          </a:xfrm>
          <a:solidFill>
            <a:schemeClr val="accent2">
              <a:lumMod val="60000"/>
              <a:lumOff val="40000"/>
            </a:schemeClr>
          </a:solidFill>
          <a:ln>
            <a:solidFill>
              <a:schemeClr val="accent2">
                <a:lumMod val="75000"/>
              </a:schemeClr>
            </a:solidFill>
          </a:ln>
        </p:spPr>
        <p:txBody>
          <a:bodyPr>
            <a:normAutofit fontScale="90000"/>
          </a:bodyPr>
          <a:lstStyle/>
          <a:p>
            <a:r>
              <a:rPr lang="en-US" sz="2400" dirty="0"/>
              <a:t>Q3. Find the tournaments whose prize pool is greater than the average prize pool of all tournaments. Display the tournament name, location, and prize pool.</a:t>
            </a:r>
            <a:br>
              <a:rPr lang="en-US" sz="2400" dirty="0"/>
            </a:br>
            <a:r>
              <a:rPr lang="en-US" sz="2400" dirty="0"/>
              <a:t>Query:</a:t>
            </a:r>
            <a:br>
              <a:rPr lang="en-US" sz="2400" dirty="0"/>
            </a:br>
            <a:r>
              <a:rPr lang="en-US" sz="2400" b="1" dirty="0">
                <a:solidFill>
                  <a:schemeClr val="accent1">
                    <a:lumMod val="50000"/>
                  </a:schemeClr>
                </a:solidFill>
              </a:rPr>
              <a:t> </a:t>
            </a:r>
            <a:endParaRPr lang="en-IN" sz="2400" b="1" dirty="0">
              <a:solidFill>
                <a:schemeClr val="accent1">
                  <a:lumMod val="50000"/>
                </a:schemeClr>
              </a:solidFill>
            </a:endParaRPr>
          </a:p>
        </p:txBody>
      </p:sp>
    </p:spTree>
    <p:extLst>
      <p:ext uri="{BB962C8B-B14F-4D97-AF65-F5344CB8AC3E}">
        <p14:creationId xmlns:p14="http://schemas.microsoft.com/office/powerpoint/2010/main" val="2106571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79B4E6E-1975-AF3B-E876-09B212B7777D}"/>
              </a:ext>
            </a:extLst>
          </p:cNvPr>
          <p:cNvPicPr>
            <a:picLocks noGrp="1" noChangeAspect="1"/>
          </p:cNvPicPr>
          <p:nvPr>
            <p:ph sz="half" idx="2"/>
          </p:nvPr>
        </p:nvPicPr>
        <p:blipFill>
          <a:blip r:embed="rId2"/>
          <a:srcRect l="1362" r="1"/>
          <a:stretch>
            <a:fillRect/>
          </a:stretch>
        </p:blipFill>
        <p:spPr>
          <a:xfrm>
            <a:off x="6622869" y="2295888"/>
            <a:ext cx="4730931" cy="4047717"/>
          </a:xfrm>
          <a:prstGeom prst="rect">
            <a:avLst/>
          </a:prstGeom>
          <a:ln>
            <a:solidFill>
              <a:schemeClr val="tx1"/>
            </a:solidFill>
          </a:ln>
        </p:spPr>
      </p:pic>
      <p:sp>
        <p:nvSpPr>
          <p:cNvPr id="5" name="Title 1">
            <a:extLst>
              <a:ext uri="{FF2B5EF4-FFF2-40B4-BE49-F238E27FC236}">
                <a16:creationId xmlns:a16="http://schemas.microsoft.com/office/drawing/2014/main" id="{6831B5BE-E21A-74DC-21DB-49B3F2BC92C7}"/>
              </a:ext>
            </a:extLst>
          </p:cNvPr>
          <p:cNvSpPr>
            <a:spLocks noGrp="1"/>
          </p:cNvSpPr>
          <p:nvPr>
            <p:ph type="title"/>
          </p:nvPr>
        </p:nvSpPr>
        <p:spPr>
          <a:xfrm>
            <a:off x="838200" y="365125"/>
            <a:ext cx="10515600" cy="1325563"/>
          </a:xfrm>
          <a:solidFill>
            <a:schemeClr val="accent2">
              <a:lumMod val="60000"/>
              <a:lumOff val="40000"/>
            </a:schemeClr>
          </a:solidFill>
          <a:ln>
            <a:solidFill>
              <a:schemeClr val="accent2">
                <a:lumMod val="75000"/>
              </a:schemeClr>
            </a:solidFill>
          </a:ln>
        </p:spPr>
        <p:txBody>
          <a:bodyPr>
            <a:normAutofit/>
          </a:bodyPr>
          <a:lstStyle/>
          <a:p>
            <a:r>
              <a:rPr lang="en-US" sz="2400" dirty="0"/>
              <a:t>Q4. Write a query to find the total wins of teams for each country and also show the average founding year of the teams. Sort the results by total wins from highest to lowest.</a:t>
            </a:r>
            <a:endParaRPr lang="en-IN" sz="2400" dirty="0"/>
          </a:p>
        </p:txBody>
      </p:sp>
      <p:sp>
        <p:nvSpPr>
          <p:cNvPr id="17" name="Content Placeholder 16">
            <a:extLst>
              <a:ext uri="{FF2B5EF4-FFF2-40B4-BE49-F238E27FC236}">
                <a16:creationId xmlns:a16="http://schemas.microsoft.com/office/drawing/2014/main" id="{C31D5242-E7A0-BFAB-A599-372B5DEB3E40}"/>
              </a:ext>
            </a:extLst>
          </p:cNvPr>
          <p:cNvSpPr>
            <a:spLocks noGrp="1"/>
          </p:cNvSpPr>
          <p:nvPr>
            <p:ph sz="half" idx="1"/>
          </p:nvPr>
        </p:nvSpPr>
        <p:spPr>
          <a:xfrm>
            <a:off x="838200" y="2295888"/>
            <a:ext cx="5181600" cy="3386455"/>
          </a:xfrm>
          <a:solidFill>
            <a:schemeClr val="bg1"/>
          </a:solidFill>
          <a:ln>
            <a:solidFill>
              <a:schemeClr val="accent2">
                <a:lumMod val="75000"/>
              </a:schemeClr>
            </a:solidFill>
          </a:ln>
        </p:spPr>
        <p:txBody>
          <a:bodyPr>
            <a:normAutofit/>
          </a:bodyPr>
          <a:lstStyle/>
          <a:p>
            <a:pPr marL="0" indent="0">
              <a:buNone/>
            </a:pPr>
            <a:r>
              <a:rPr lang="en-US" sz="2400" dirty="0"/>
              <a:t>SELECT country, </a:t>
            </a:r>
          </a:p>
          <a:p>
            <a:pPr marL="0" indent="0">
              <a:buNone/>
            </a:pPr>
            <a:r>
              <a:rPr lang="en-US" sz="2400" dirty="0"/>
              <a:t>       SUM(total_wins)</a:t>
            </a:r>
          </a:p>
          <a:p>
            <a:pPr marL="0" indent="0">
              <a:buNone/>
            </a:pPr>
            <a:r>
              <a:rPr lang="en-US" sz="2400" dirty="0"/>
              <a:t>       AVG(founded_year)</a:t>
            </a:r>
          </a:p>
          <a:p>
            <a:pPr marL="0" indent="0">
              <a:buNone/>
            </a:pPr>
            <a:r>
              <a:rPr lang="en-US" sz="2400" dirty="0"/>
              <a:t>FROM Teams</a:t>
            </a:r>
          </a:p>
          <a:p>
            <a:pPr marL="0" indent="0">
              <a:buNone/>
            </a:pPr>
            <a:r>
              <a:rPr lang="en-US" sz="2400" dirty="0"/>
              <a:t>GROUP BY country</a:t>
            </a:r>
          </a:p>
          <a:p>
            <a:pPr marL="0" indent="0">
              <a:buNone/>
            </a:pPr>
            <a:r>
              <a:rPr lang="en-US" sz="2400" dirty="0"/>
              <a:t>ORDER BY total_wins DESC;</a:t>
            </a:r>
            <a:endParaRPr lang="en-IN" sz="2400" dirty="0"/>
          </a:p>
        </p:txBody>
      </p:sp>
      <p:sp>
        <p:nvSpPr>
          <p:cNvPr id="22" name="TextBox 21">
            <a:extLst>
              <a:ext uri="{FF2B5EF4-FFF2-40B4-BE49-F238E27FC236}">
                <a16:creationId xmlns:a16="http://schemas.microsoft.com/office/drawing/2014/main" id="{7D6C4D18-D96D-8F21-16DE-ABA4CC87F5C9}"/>
              </a:ext>
            </a:extLst>
          </p:cNvPr>
          <p:cNvSpPr txBox="1"/>
          <p:nvPr/>
        </p:nvSpPr>
        <p:spPr>
          <a:xfrm>
            <a:off x="838200" y="1926556"/>
            <a:ext cx="1382486" cy="369332"/>
          </a:xfrm>
          <a:prstGeom prst="rect">
            <a:avLst/>
          </a:prstGeom>
          <a:solidFill>
            <a:schemeClr val="accent2">
              <a:lumMod val="20000"/>
              <a:lumOff val="80000"/>
            </a:schemeClr>
          </a:solidFill>
          <a:ln>
            <a:solidFill>
              <a:schemeClr val="tx1"/>
            </a:solidFill>
          </a:ln>
        </p:spPr>
        <p:txBody>
          <a:bodyPr wrap="square" rtlCol="0">
            <a:spAutoFit/>
          </a:bodyPr>
          <a:lstStyle/>
          <a:p>
            <a:r>
              <a:rPr lang="en-US" dirty="0"/>
              <a:t>Syntax:-</a:t>
            </a:r>
            <a:endParaRPr lang="en-IN" dirty="0"/>
          </a:p>
        </p:txBody>
      </p:sp>
      <p:sp>
        <p:nvSpPr>
          <p:cNvPr id="23" name="TextBox 22">
            <a:extLst>
              <a:ext uri="{FF2B5EF4-FFF2-40B4-BE49-F238E27FC236}">
                <a16:creationId xmlns:a16="http://schemas.microsoft.com/office/drawing/2014/main" id="{5929175E-51A7-7948-9CD3-BCA431E55565}"/>
              </a:ext>
            </a:extLst>
          </p:cNvPr>
          <p:cNvSpPr txBox="1"/>
          <p:nvPr/>
        </p:nvSpPr>
        <p:spPr>
          <a:xfrm>
            <a:off x="6622869" y="1808622"/>
            <a:ext cx="1382486" cy="369332"/>
          </a:xfrm>
          <a:prstGeom prst="rect">
            <a:avLst/>
          </a:prstGeom>
          <a:solidFill>
            <a:schemeClr val="accent2">
              <a:lumMod val="20000"/>
              <a:lumOff val="80000"/>
            </a:schemeClr>
          </a:solidFill>
          <a:ln>
            <a:solidFill>
              <a:schemeClr val="tx1"/>
            </a:solidFill>
          </a:ln>
        </p:spPr>
        <p:txBody>
          <a:bodyPr wrap="square" rtlCol="0">
            <a:spAutoFit/>
          </a:bodyPr>
          <a:lstStyle/>
          <a:p>
            <a:r>
              <a:rPr lang="en-US" dirty="0"/>
              <a:t>Output:-</a:t>
            </a:r>
            <a:endParaRPr lang="en-IN" dirty="0"/>
          </a:p>
        </p:txBody>
      </p:sp>
    </p:spTree>
    <p:extLst>
      <p:ext uri="{BB962C8B-B14F-4D97-AF65-F5344CB8AC3E}">
        <p14:creationId xmlns:p14="http://schemas.microsoft.com/office/powerpoint/2010/main" val="2838556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AE8B57-D183-D9CE-CF34-003D4E3A98C9}"/>
              </a:ext>
            </a:extLst>
          </p:cNvPr>
          <p:cNvSpPr>
            <a:spLocks noGrp="1"/>
          </p:cNvSpPr>
          <p:nvPr>
            <p:ph sz="half" idx="1"/>
          </p:nvPr>
        </p:nvSpPr>
        <p:spPr>
          <a:xfrm>
            <a:off x="838200" y="2412864"/>
            <a:ext cx="5181600" cy="2641872"/>
          </a:xfrm>
          <a:solidFill>
            <a:schemeClr val="bg1"/>
          </a:solidFill>
          <a:ln>
            <a:solidFill>
              <a:schemeClr val="accent2"/>
            </a:solidFill>
          </a:ln>
        </p:spPr>
        <p:txBody>
          <a:bodyPr/>
          <a:lstStyle/>
          <a:p>
            <a:pPr marL="0" indent="0">
              <a:buNone/>
            </a:pPr>
            <a:r>
              <a:rPr lang="en-US" dirty="0"/>
              <a:t>SELECT location, SUM(prize_pool)</a:t>
            </a:r>
          </a:p>
          <a:p>
            <a:pPr marL="0" indent="0">
              <a:buNone/>
            </a:pPr>
            <a:r>
              <a:rPr lang="en-US" dirty="0"/>
              <a:t>    FROM Tournaments</a:t>
            </a:r>
          </a:p>
          <a:p>
            <a:pPr marL="0" indent="0">
              <a:buNone/>
            </a:pPr>
            <a:r>
              <a:rPr lang="en-US" dirty="0"/>
              <a:t>    GROUP BY location</a:t>
            </a:r>
          </a:p>
          <a:p>
            <a:pPr marL="0" indent="0">
              <a:buNone/>
            </a:pPr>
            <a:r>
              <a:rPr lang="en-US" dirty="0"/>
              <a:t>     HAVING SUM(prize_pool) &gt; 1000000;</a:t>
            </a:r>
            <a:endParaRPr lang="en-IN" dirty="0"/>
          </a:p>
        </p:txBody>
      </p:sp>
      <p:pic>
        <p:nvPicPr>
          <p:cNvPr id="5" name="Content Placeholder 4">
            <a:extLst>
              <a:ext uri="{FF2B5EF4-FFF2-40B4-BE49-F238E27FC236}">
                <a16:creationId xmlns:a16="http://schemas.microsoft.com/office/drawing/2014/main" id="{2DF60FFB-540A-DB89-6BB8-4C9775923A64}"/>
              </a:ext>
            </a:extLst>
          </p:cNvPr>
          <p:cNvPicPr>
            <a:picLocks noGrp="1" noChangeAspect="1"/>
          </p:cNvPicPr>
          <p:nvPr>
            <p:ph sz="half" idx="2"/>
          </p:nvPr>
        </p:nvPicPr>
        <p:blipFill>
          <a:blip r:embed="rId2"/>
          <a:stretch>
            <a:fillRect/>
          </a:stretch>
        </p:blipFill>
        <p:spPr>
          <a:xfrm>
            <a:off x="6756272" y="2412864"/>
            <a:ext cx="4216528" cy="1486036"/>
          </a:xfrm>
          <a:prstGeom prst="rect">
            <a:avLst/>
          </a:prstGeom>
          <a:ln>
            <a:solidFill>
              <a:schemeClr val="accent2">
                <a:lumMod val="75000"/>
              </a:schemeClr>
            </a:solidFill>
          </a:ln>
        </p:spPr>
      </p:pic>
      <p:sp>
        <p:nvSpPr>
          <p:cNvPr id="7" name="Title 1">
            <a:extLst>
              <a:ext uri="{FF2B5EF4-FFF2-40B4-BE49-F238E27FC236}">
                <a16:creationId xmlns:a16="http://schemas.microsoft.com/office/drawing/2014/main" id="{1DE5DCFD-461E-5882-3F6C-735E48E7E30E}"/>
              </a:ext>
            </a:extLst>
          </p:cNvPr>
          <p:cNvSpPr>
            <a:spLocks noGrp="1"/>
          </p:cNvSpPr>
          <p:nvPr>
            <p:ph type="title"/>
          </p:nvPr>
        </p:nvSpPr>
        <p:spPr>
          <a:xfrm>
            <a:off x="838200" y="365125"/>
            <a:ext cx="10515600" cy="1325563"/>
          </a:xfrm>
          <a:solidFill>
            <a:schemeClr val="accent2">
              <a:lumMod val="60000"/>
              <a:lumOff val="40000"/>
            </a:schemeClr>
          </a:solidFill>
          <a:ln>
            <a:solidFill>
              <a:schemeClr val="accent2">
                <a:lumMod val="75000"/>
              </a:schemeClr>
            </a:solidFill>
          </a:ln>
        </p:spPr>
        <p:txBody>
          <a:bodyPr>
            <a:normAutofit/>
          </a:bodyPr>
          <a:lstStyle/>
          <a:p>
            <a:r>
              <a:rPr lang="en-US" sz="2400" dirty="0"/>
              <a:t>Q5. Find the locations where the total prize pool of all tournaments held there is greater than 1000000. Display the location and the total prize pool.</a:t>
            </a:r>
            <a:endParaRPr lang="en-IN" sz="2400" dirty="0"/>
          </a:p>
        </p:txBody>
      </p:sp>
      <p:pic>
        <p:nvPicPr>
          <p:cNvPr id="8" name="Picture 7">
            <a:extLst>
              <a:ext uri="{FF2B5EF4-FFF2-40B4-BE49-F238E27FC236}">
                <a16:creationId xmlns:a16="http://schemas.microsoft.com/office/drawing/2014/main" id="{894E641C-4629-3F5D-75E3-C9A038A509DE}"/>
              </a:ext>
            </a:extLst>
          </p:cNvPr>
          <p:cNvPicPr>
            <a:picLocks noChangeAspect="1"/>
          </p:cNvPicPr>
          <p:nvPr/>
        </p:nvPicPr>
        <p:blipFill>
          <a:blip r:embed="rId3"/>
          <a:stretch>
            <a:fillRect/>
          </a:stretch>
        </p:blipFill>
        <p:spPr>
          <a:xfrm>
            <a:off x="825500" y="1919045"/>
            <a:ext cx="1438781" cy="493819"/>
          </a:xfrm>
          <a:prstGeom prst="rect">
            <a:avLst/>
          </a:prstGeom>
        </p:spPr>
      </p:pic>
      <p:sp>
        <p:nvSpPr>
          <p:cNvPr id="9" name="TextBox 8">
            <a:extLst>
              <a:ext uri="{FF2B5EF4-FFF2-40B4-BE49-F238E27FC236}">
                <a16:creationId xmlns:a16="http://schemas.microsoft.com/office/drawing/2014/main" id="{C7B1E146-B50B-E661-28BB-8A984CF6B5B9}"/>
              </a:ext>
            </a:extLst>
          </p:cNvPr>
          <p:cNvSpPr txBox="1"/>
          <p:nvPr/>
        </p:nvSpPr>
        <p:spPr>
          <a:xfrm>
            <a:off x="6756272" y="1955977"/>
            <a:ext cx="1382486" cy="369332"/>
          </a:xfrm>
          <a:prstGeom prst="rect">
            <a:avLst/>
          </a:prstGeom>
          <a:solidFill>
            <a:schemeClr val="accent2">
              <a:lumMod val="20000"/>
              <a:lumOff val="80000"/>
            </a:schemeClr>
          </a:solidFill>
          <a:ln>
            <a:solidFill>
              <a:schemeClr val="tx1"/>
            </a:solidFill>
          </a:ln>
        </p:spPr>
        <p:txBody>
          <a:bodyPr wrap="square" rtlCol="0">
            <a:spAutoFit/>
          </a:bodyPr>
          <a:lstStyle/>
          <a:p>
            <a:r>
              <a:rPr lang="en-US" dirty="0"/>
              <a:t>Output:-</a:t>
            </a:r>
            <a:endParaRPr lang="en-IN" dirty="0"/>
          </a:p>
        </p:txBody>
      </p:sp>
    </p:spTree>
    <p:extLst>
      <p:ext uri="{BB962C8B-B14F-4D97-AF65-F5344CB8AC3E}">
        <p14:creationId xmlns:p14="http://schemas.microsoft.com/office/powerpoint/2010/main" val="4274076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19134B-FC99-7CFA-2C93-E590AABE1105}"/>
              </a:ext>
            </a:extLst>
          </p:cNvPr>
          <p:cNvSpPr>
            <a:spLocks noGrp="1"/>
          </p:cNvSpPr>
          <p:nvPr>
            <p:ph sz="half" idx="1"/>
          </p:nvPr>
        </p:nvSpPr>
        <p:spPr>
          <a:xfrm>
            <a:off x="838200" y="1825625"/>
            <a:ext cx="4432300" cy="1108075"/>
          </a:xfrm>
          <a:ln>
            <a:solidFill>
              <a:schemeClr val="accent2">
                <a:lumMod val="75000"/>
              </a:schemeClr>
            </a:solidFill>
          </a:ln>
        </p:spPr>
        <p:txBody>
          <a:bodyPr>
            <a:normAutofit fontScale="92500" lnSpcReduction="20000"/>
          </a:bodyPr>
          <a:lstStyle/>
          <a:p>
            <a:pPr marL="0" indent="0">
              <a:buNone/>
            </a:pPr>
            <a:r>
              <a:rPr lang="en-US" sz="2400" dirty="0"/>
              <a:t>SELECT game_name</a:t>
            </a:r>
          </a:p>
          <a:p>
            <a:pPr marL="0" indent="0">
              <a:buNone/>
            </a:pPr>
            <a:r>
              <a:rPr lang="en-US" sz="2400" dirty="0"/>
              <a:t>FROM games</a:t>
            </a:r>
          </a:p>
          <a:p>
            <a:pPr marL="0" indent="0">
              <a:buNone/>
            </a:pPr>
            <a:r>
              <a:rPr lang="en-US" sz="2400" dirty="0"/>
              <a:t>WHERE game_name LIKE '%Battle%';</a:t>
            </a:r>
            <a:endParaRPr lang="en-IN" sz="2400" dirty="0"/>
          </a:p>
        </p:txBody>
      </p:sp>
      <p:pic>
        <p:nvPicPr>
          <p:cNvPr id="6" name="Content Placeholder 5">
            <a:extLst>
              <a:ext uri="{FF2B5EF4-FFF2-40B4-BE49-F238E27FC236}">
                <a16:creationId xmlns:a16="http://schemas.microsoft.com/office/drawing/2014/main" id="{1CBB62F5-4015-2D69-26D7-0D52F08F8B4E}"/>
              </a:ext>
            </a:extLst>
          </p:cNvPr>
          <p:cNvPicPr>
            <a:picLocks noGrp="1" noChangeAspect="1"/>
          </p:cNvPicPr>
          <p:nvPr>
            <p:ph sz="half" idx="2"/>
          </p:nvPr>
        </p:nvPicPr>
        <p:blipFill>
          <a:blip r:embed="rId2"/>
          <a:stretch>
            <a:fillRect/>
          </a:stretch>
        </p:blipFill>
        <p:spPr>
          <a:xfrm>
            <a:off x="5435600" y="1689100"/>
            <a:ext cx="5918200" cy="4165600"/>
          </a:xfrm>
          <a:prstGeom prst="rect">
            <a:avLst/>
          </a:prstGeom>
          <a:ln>
            <a:solidFill>
              <a:schemeClr val="accent2">
                <a:lumMod val="75000"/>
              </a:schemeClr>
            </a:solidFill>
          </a:ln>
        </p:spPr>
      </p:pic>
      <p:sp>
        <p:nvSpPr>
          <p:cNvPr id="5" name="Title 1">
            <a:extLst>
              <a:ext uri="{FF2B5EF4-FFF2-40B4-BE49-F238E27FC236}">
                <a16:creationId xmlns:a16="http://schemas.microsoft.com/office/drawing/2014/main" id="{E82C3FB2-D4FB-DD82-0CB0-67D1405CB9EA}"/>
              </a:ext>
            </a:extLst>
          </p:cNvPr>
          <p:cNvSpPr>
            <a:spLocks noGrp="1"/>
          </p:cNvSpPr>
          <p:nvPr>
            <p:ph type="title"/>
          </p:nvPr>
        </p:nvSpPr>
        <p:spPr>
          <a:xfrm>
            <a:off x="838200" y="365125"/>
            <a:ext cx="10515600" cy="1006475"/>
          </a:xfrm>
          <a:solidFill>
            <a:schemeClr val="accent2">
              <a:lumMod val="60000"/>
              <a:lumOff val="40000"/>
            </a:schemeClr>
          </a:solidFill>
          <a:ln>
            <a:solidFill>
              <a:schemeClr val="accent2">
                <a:lumMod val="75000"/>
              </a:schemeClr>
            </a:solidFill>
          </a:ln>
        </p:spPr>
        <p:txBody>
          <a:bodyPr>
            <a:normAutofit/>
          </a:bodyPr>
          <a:lstStyle/>
          <a:p>
            <a:r>
              <a:rPr lang="en-US" sz="2400" dirty="0"/>
              <a:t>Q6. Find players whose role does NOT contain 'Captain' using NOT LIKE.</a:t>
            </a:r>
            <a:br>
              <a:rPr lang="en-US" sz="2400" dirty="0"/>
            </a:br>
            <a:endParaRPr lang="en-IN" sz="2400" dirty="0">
              <a:solidFill>
                <a:schemeClr val="accent1">
                  <a:lumMod val="50000"/>
                </a:schemeClr>
              </a:solidFill>
            </a:endParaRPr>
          </a:p>
        </p:txBody>
      </p:sp>
    </p:spTree>
    <p:extLst>
      <p:ext uri="{BB962C8B-B14F-4D97-AF65-F5344CB8AC3E}">
        <p14:creationId xmlns:p14="http://schemas.microsoft.com/office/powerpoint/2010/main" val="692003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0FD48-DA01-B611-7913-3DF0627A3E3A}"/>
              </a:ext>
            </a:extLst>
          </p:cNvPr>
          <p:cNvSpPr>
            <a:spLocks noGrp="1"/>
          </p:cNvSpPr>
          <p:nvPr>
            <p:ph type="title"/>
          </p:nvPr>
        </p:nvSpPr>
        <p:spPr>
          <a:solidFill>
            <a:schemeClr val="accent2">
              <a:lumMod val="60000"/>
              <a:lumOff val="40000"/>
            </a:schemeClr>
          </a:solidFill>
          <a:ln>
            <a:solidFill>
              <a:schemeClr val="accent2">
                <a:lumMod val="75000"/>
              </a:schemeClr>
            </a:solidFill>
          </a:ln>
        </p:spPr>
        <p:txBody>
          <a:bodyPr>
            <a:normAutofit/>
          </a:bodyPr>
          <a:lstStyle/>
          <a:p>
            <a:r>
              <a:rPr lang="en-US" sz="2400" dirty="0"/>
              <a:t>Q7.Find the teams that have more total wins than the average wins of their country and were founded before the newest team with maximum wins from another country. Display the team name, country, founding year, and total wins.</a:t>
            </a:r>
            <a:endParaRPr lang="en-IN" sz="2400" dirty="0"/>
          </a:p>
        </p:txBody>
      </p:sp>
      <p:pic>
        <p:nvPicPr>
          <p:cNvPr id="6" name="Content Placeholder 5">
            <a:extLst>
              <a:ext uri="{FF2B5EF4-FFF2-40B4-BE49-F238E27FC236}">
                <a16:creationId xmlns:a16="http://schemas.microsoft.com/office/drawing/2014/main" id="{8A477956-D2C5-7095-F8ED-F6D9D46977EB}"/>
              </a:ext>
            </a:extLst>
          </p:cNvPr>
          <p:cNvPicPr>
            <a:picLocks noGrp="1" noChangeAspect="1"/>
          </p:cNvPicPr>
          <p:nvPr>
            <p:ph sz="half" idx="1"/>
          </p:nvPr>
        </p:nvPicPr>
        <p:blipFill>
          <a:blip r:embed="rId2"/>
          <a:stretch>
            <a:fillRect/>
          </a:stretch>
        </p:blipFill>
        <p:spPr>
          <a:xfrm>
            <a:off x="838200" y="1825625"/>
            <a:ext cx="4699000" cy="4351338"/>
          </a:xfrm>
          <a:prstGeom prst="rect">
            <a:avLst/>
          </a:prstGeom>
          <a:ln>
            <a:solidFill>
              <a:schemeClr val="accent2">
                <a:lumMod val="75000"/>
              </a:schemeClr>
            </a:solidFill>
          </a:ln>
        </p:spPr>
      </p:pic>
      <p:pic>
        <p:nvPicPr>
          <p:cNvPr id="8" name="Content Placeholder 7">
            <a:extLst>
              <a:ext uri="{FF2B5EF4-FFF2-40B4-BE49-F238E27FC236}">
                <a16:creationId xmlns:a16="http://schemas.microsoft.com/office/drawing/2014/main" id="{5F23B2EF-DE9D-31E5-BACF-D5E77B007F59}"/>
              </a:ext>
            </a:extLst>
          </p:cNvPr>
          <p:cNvPicPr>
            <a:picLocks noGrp="1" noChangeAspect="1"/>
          </p:cNvPicPr>
          <p:nvPr>
            <p:ph sz="half" idx="2"/>
          </p:nvPr>
        </p:nvPicPr>
        <p:blipFill>
          <a:blip r:embed="rId3"/>
          <a:srcRect l="1750" r="-1"/>
          <a:stretch>
            <a:fillRect/>
          </a:stretch>
        </p:blipFill>
        <p:spPr>
          <a:xfrm>
            <a:off x="6184900" y="1968500"/>
            <a:ext cx="4991100" cy="4208463"/>
          </a:xfrm>
          <a:prstGeom prst="rect">
            <a:avLst/>
          </a:prstGeom>
          <a:ln>
            <a:solidFill>
              <a:schemeClr val="accent2">
                <a:lumMod val="75000"/>
              </a:schemeClr>
            </a:solidFill>
          </a:ln>
        </p:spPr>
      </p:pic>
    </p:spTree>
    <p:extLst>
      <p:ext uri="{BB962C8B-B14F-4D97-AF65-F5344CB8AC3E}">
        <p14:creationId xmlns:p14="http://schemas.microsoft.com/office/powerpoint/2010/main" val="3258620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5B9AA4-A835-5888-7F9A-1EEF52417407}"/>
              </a:ext>
            </a:extLst>
          </p:cNvPr>
          <p:cNvSpPr>
            <a:spLocks noGrp="1"/>
          </p:cNvSpPr>
          <p:nvPr>
            <p:ph sz="half" idx="1"/>
          </p:nvPr>
        </p:nvSpPr>
        <p:spPr>
          <a:xfrm>
            <a:off x="838200" y="1825625"/>
            <a:ext cx="5181600" cy="3246438"/>
          </a:xfrm>
          <a:solidFill>
            <a:schemeClr val="bg1"/>
          </a:solidFill>
          <a:ln>
            <a:solidFill>
              <a:schemeClr val="accent2">
                <a:lumMod val="75000"/>
              </a:schemeClr>
            </a:solidFill>
          </a:ln>
        </p:spPr>
        <p:txBody>
          <a:bodyPr>
            <a:normAutofit fontScale="92500" lnSpcReduction="10000"/>
          </a:bodyPr>
          <a:lstStyle/>
          <a:p>
            <a:pPr marL="0" indent="0">
              <a:buNone/>
            </a:pPr>
            <a:r>
              <a:rPr lang="en-US" dirty="0"/>
              <a:t>SELECT country, SUM(total_wins</a:t>
            </a:r>
          </a:p>
          <a:p>
            <a:pPr marL="0" indent="0">
              <a:buNone/>
            </a:pPr>
            <a:r>
              <a:rPr lang="en-US" dirty="0"/>
              <a:t>FROM teams</a:t>
            </a:r>
          </a:p>
          <a:p>
            <a:pPr marL="0" indent="0">
              <a:buNone/>
            </a:pPr>
            <a:r>
              <a:rPr lang="en-US" dirty="0"/>
              <a:t>GROUP BY country</a:t>
            </a:r>
          </a:p>
          <a:p>
            <a:pPr marL="0" indent="0">
              <a:buNone/>
            </a:pPr>
            <a:r>
              <a:rPr lang="en-US" dirty="0"/>
              <a:t>HAVING SUM(total_wins) &gt; (</a:t>
            </a:r>
          </a:p>
          <a:p>
            <a:pPr marL="0" indent="0">
              <a:buNone/>
            </a:pPr>
            <a:r>
              <a:rPr lang="en-US" dirty="0"/>
              <a:t>    SELECT AVG(total_wins) </a:t>
            </a:r>
          </a:p>
          <a:p>
            <a:pPr marL="0" indent="0">
              <a:buNone/>
            </a:pPr>
            <a:r>
              <a:rPr lang="en-US" dirty="0"/>
              <a:t>    FROM teams</a:t>
            </a:r>
          </a:p>
          <a:p>
            <a:pPr marL="0" indent="0">
              <a:buNone/>
            </a:pPr>
            <a:r>
              <a:rPr lang="en-US" dirty="0"/>
              <a:t>);</a:t>
            </a:r>
          </a:p>
        </p:txBody>
      </p:sp>
      <p:pic>
        <p:nvPicPr>
          <p:cNvPr id="7" name="Content Placeholder 6">
            <a:extLst>
              <a:ext uri="{FF2B5EF4-FFF2-40B4-BE49-F238E27FC236}">
                <a16:creationId xmlns:a16="http://schemas.microsoft.com/office/drawing/2014/main" id="{CF71DF9A-D7A4-9474-740D-9567F6775E91}"/>
              </a:ext>
            </a:extLst>
          </p:cNvPr>
          <p:cNvPicPr>
            <a:picLocks noGrp="1" noChangeAspect="1"/>
          </p:cNvPicPr>
          <p:nvPr>
            <p:ph sz="half" idx="2"/>
          </p:nvPr>
        </p:nvPicPr>
        <p:blipFill>
          <a:blip r:embed="rId2"/>
          <a:stretch>
            <a:fillRect/>
          </a:stretch>
        </p:blipFill>
        <p:spPr>
          <a:xfrm>
            <a:off x="6557964" y="1867693"/>
            <a:ext cx="3010012" cy="3124339"/>
          </a:xfrm>
          <a:prstGeom prst="rect">
            <a:avLst/>
          </a:prstGeom>
          <a:ln>
            <a:solidFill>
              <a:schemeClr val="accent2">
                <a:lumMod val="75000"/>
              </a:schemeClr>
            </a:solidFill>
          </a:ln>
        </p:spPr>
      </p:pic>
      <p:sp>
        <p:nvSpPr>
          <p:cNvPr id="5" name="Title 1">
            <a:extLst>
              <a:ext uri="{FF2B5EF4-FFF2-40B4-BE49-F238E27FC236}">
                <a16:creationId xmlns:a16="http://schemas.microsoft.com/office/drawing/2014/main" id="{DEC4E182-7966-8D1C-B55C-421B96791764}"/>
              </a:ext>
            </a:extLst>
          </p:cNvPr>
          <p:cNvSpPr>
            <a:spLocks noGrp="1"/>
          </p:cNvSpPr>
          <p:nvPr>
            <p:ph type="title"/>
          </p:nvPr>
        </p:nvSpPr>
        <p:spPr>
          <a:xfrm>
            <a:off x="838200" y="365125"/>
            <a:ext cx="10515600" cy="1325563"/>
          </a:xfrm>
          <a:solidFill>
            <a:schemeClr val="accent2">
              <a:lumMod val="60000"/>
              <a:lumOff val="40000"/>
            </a:schemeClr>
          </a:solidFill>
          <a:ln>
            <a:solidFill>
              <a:schemeClr val="accent2">
                <a:lumMod val="75000"/>
              </a:schemeClr>
            </a:solidFill>
          </a:ln>
        </p:spPr>
        <p:txBody>
          <a:bodyPr>
            <a:normAutofit/>
          </a:bodyPr>
          <a:lstStyle/>
          <a:p>
            <a:r>
              <a:rPr lang="en-US" sz="2400" dirty="0"/>
              <a:t>Q8. Find the countries where the total wins of teams is greater than the average total wins of all teams across all countries. Display country name and total wins.</a:t>
            </a:r>
            <a:endParaRPr lang="en-IN" sz="2400" dirty="0"/>
          </a:p>
        </p:txBody>
      </p:sp>
    </p:spTree>
    <p:extLst>
      <p:ext uri="{BB962C8B-B14F-4D97-AF65-F5344CB8AC3E}">
        <p14:creationId xmlns:p14="http://schemas.microsoft.com/office/powerpoint/2010/main" val="3618805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1EAA00-B4FE-C5B0-BCEC-937A0369F69E}"/>
              </a:ext>
            </a:extLst>
          </p:cNvPr>
          <p:cNvSpPr>
            <a:spLocks noGrp="1"/>
          </p:cNvSpPr>
          <p:nvPr>
            <p:ph sz="half" idx="1"/>
          </p:nvPr>
        </p:nvSpPr>
        <p:spPr>
          <a:xfrm>
            <a:off x="838200" y="1825625"/>
            <a:ext cx="5181600" cy="2246313"/>
          </a:xfrm>
          <a:ln>
            <a:solidFill>
              <a:schemeClr val="accent2">
                <a:lumMod val="75000"/>
              </a:schemeClr>
            </a:solidFill>
          </a:ln>
        </p:spPr>
        <p:txBody>
          <a:bodyPr>
            <a:normAutofit/>
          </a:bodyPr>
          <a:lstStyle/>
          <a:p>
            <a:pPr marL="0" indent="0">
              <a:buNone/>
            </a:pPr>
            <a:r>
              <a:rPr lang="en-IN" sz="2400" dirty="0"/>
              <a:t>SELECT tr.tournament_name, tr.prize_pool, g.genre                        FROM tournaments tr, games g      where tr.game_id = g.game_id AND prize_pool &gt; 100000;</a:t>
            </a:r>
          </a:p>
        </p:txBody>
      </p:sp>
      <p:pic>
        <p:nvPicPr>
          <p:cNvPr id="7" name="Content Placeholder 6">
            <a:extLst>
              <a:ext uri="{FF2B5EF4-FFF2-40B4-BE49-F238E27FC236}">
                <a16:creationId xmlns:a16="http://schemas.microsoft.com/office/drawing/2014/main" id="{4B137F23-F65B-B39E-3A32-FED02E1E8DAA}"/>
              </a:ext>
            </a:extLst>
          </p:cNvPr>
          <p:cNvPicPr>
            <a:picLocks noGrp="1" noChangeAspect="1"/>
          </p:cNvPicPr>
          <p:nvPr>
            <p:ph sz="half" idx="2"/>
          </p:nvPr>
        </p:nvPicPr>
        <p:blipFill>
          <a:blip r:embed="rId2"/>
          <a:stretch>
            <a:fillRect/>
          </a:stretch>
        </p:blipFill>
        <p:spPr>
          <a:xfrm>
            <a:off x="6329363" y="1938678"/>
            <a:ext cx="4743450" cy="4554197"/>
          </a:xfrm>
          <a:prstGeom prst="rect">
            <a:avLst/>
          </a:prstGeom>
          <a:ln>
            <a:solidFill>
              <a:schemeClr val="accent2">
                <a:lumMod val="75000"/>
              </a:schemeClr>
            </a:solidFill>
          </a:ln>
        </p:spPr>
      </p:pic>
      <p:sp>
        <p:nvSpPr>
          <p:cNvPr id="5" name="Title 1">
            <a:extLst>
              <a:ext uri="{FF2B5EF4-FFF2-40B4-BE49-F238E27FC236}">
                <a16:creationId xmlns:a16="http://schemas.microsoft.com/office/drawing/2014/main" id="{38EE59D1-8853-0B6A-4281-3FD4BA369784}"/>
              </a:ext>
            </a:extLst>
          </p:cNvPr>
          <p:cNvSpPr>
            <a:spLocks noGrp="1"/>
          </p:cNvSpPr>
          <p:nvPr>
            <p:ph type="title"/>
          </p:nvPr>
        </p:nvSpPr>
        <p:spPr>
          <a:xfrm>
            <a:off x="838200" y="365125"/>
            <a:ext cx="10515600" cy="1325563"/>
          </a:xfrm>
          <a:solidFill>
            <a:schemeClr val="accent2">
              <a:lumMod val="60000"/>
              <a:lumOff val="40000"/>
            </a:schemeClr>
          </a:solidFill>
          <a:ln>
            <a:solidFill>
              <a:schemeClr val="accent2">
                <a:lumMod val="75000"/>
              </a:schemeClr>
            </a:solidFill>
          </a:ln>
        </p:spPr>
        <p:txBody>
          <a:bodyPr>
            <a:normAutofit/>
          </a:bodyPr>
          <a:lstStyle/>
          <a:p>
            <a:r>
              <a:rPr lang="en-US" sz="2400" dirty="0"/>
              <a:t>Q9. </a:t>
            </a:r>
            <a:r>
              <a:rPr lang="en-US" sz="2000" dirty="0"/>
              <a:t>Write a query to display tournament name, game name, and location where the prize pool is greater than 1,00,000 and the game genre is 'FPS’.</a:t>
            </a:r>
            <a:endParaRPr lang="en-IN" sz="2000" dirty="0"/>
          </a:p>
        </p:txBody>
      </p:sp>
    </p:spTree>
    <p:extLst>
      <p:ext uri="{BB962C8B-B14F-4D97-AF65-F5344CB8AC3E}">
        <p14:creationId xmlns:p14="http://schemas.microsoft.com/office/powerpoint/2010/main" val="166371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8B2C98-F618-8770-25B3-0D2962169DFD}"/>
              </a:ext>
            </a:extLst>
          </p:cNvPr>
          <p:cNvSpPr>
            <a:spLocks noGrp="1"/>
          </p:cNvSpPr>
          <p:nvPr>
            <p:ph sz="half" idx="1"/>
          </p:nvPr>
        </p:nvSpPr>
        <p:spPr>
          <a:xfrm>
            <a:off x="838200" y="1825625"/>
            <a:ext cx="5181600" cy="1603375"/>
          </a:xfrm>
          <a:ln>
            <a:solidFill>
              <a:schemeClr val="accent2">
                <a:lumMod val="75000"/>
              </a:schemeClr>
            </a:solidFill>
          </a:ln>
        </p:spPr>
        <p:txBody>
          <a:bodyPr>
            <a:normAutofit/>
          </a:bodyPr>
          <a:lstStyle/>
          <a:p>
            <a:pPr marL="0" indent="0">
              <a:buNone/>
            </a:pPr>
            <a:r>
              <a:rPr lang="en-US" sz="2400" dirty="0"/>
              <a:t>SELECT p.player_name, p.nationality, t.team_name, t.country                                    FROM Players p, Teams t                WHERE p.nationality = t.country;</a:t>
            </a:r>
            <a:endParaRPr lang="en-IN" sz="2400" dirty="0"/>
          </a:p>
        </p:txBody>
      </p:sp>
      <p:pic>
        <p:nvPicPr>
          <p:cNvPr id="7" name="Content Placeholder 6">
            <a:extLst>
              <a:ext uri="{FF2B5EF4-FFF2-40B4-BE49-F238E27FC236}">
                <a16:creationId xmlns:a16="http://schemas.microsoft.com/office/drawing/2014/main" id="{A04B245A-04F6-BC2F-EF4B-E5FAF2DA3530}"/>
              </a:ext>
            </a:extLst>
          </p:cNvPr>
          <p:cNvPicPr>
            <a:picLocks noGrp="1" noChangeAspect="1"/>
          </p:cNvPicPr>
          <p:nvPr>
            <p:ph sz="half" idx="2"/>
          </p:nvPr>
        </p:nvPicPr>
        <p:blipFill>
          <a:blip r:embed="rId2"/>
          <a:stretch>
            <a:fillRect/>
          </a:stretch>
        </p:blipFill>
        <p:spPr>
          <a:xfrm>
            <a:off x="6396761" y="1825625"/>
            <a:ext cx="4847502" cy="4667250"/>
          </a:xfrm>
          <a:prstGeom prst="rect">
            <a:avLst/>
          </a:prstGeom>
          <a:ln>
            <a:solidFill>
              <a:schemeClr val="accent2">
                <a:lumMod val="75000"/>
              </a:schemeClr>
            </a:solidFill>
          </a:ln>
        </p:spPr>
      </p:pic>
      <p:sp>
        <p:nvSpPr>
          <p:cNvPr id="5" name="Title 1">
            <a:extLst>
              <a:ext uri="{FF2B5EF4-FFF2-40B4-BE49-F238E27FC236}">
                <a16:creationId xmlns:a16="http://schemas.microsoft.com/office/drawing/2014/main" id="{4833545C-B4C3-3218-F260-08E8293732BE}"/>
              </a:ext>
            </a:extLst>
          </p:cNvPr>
          <p:cNvSpPr>
            <a:spLocks noGrp="1"/>
          </p:cNvSpPr>
          <p:nvPr>
            <p:ph type="title"/>
          </p:nvPr>
        </p:nvSpPr>
        <p:spPr>
          <a:xfrm>
            <a:off x="838200" y="365125"/>
            <a:ext cx="10515600" cy="1325563"/>
          </a:xfrm>
          <a:solidFill>
            <a:schemeClr val="accent2">
              <a:lumMod val="60000"/>
              <a:lumOff val="40000"/>
            </a:schemeClr>
          </a:solidFill>
          <a:ln>
            <a:solidFill>
              <a:schemeClr val="accent2">
                <a:lumMod val="75000"/>
              </a:schemeClr>
            </a:solidFill>
          </a:ln>
        </p:spPr>
        <p:txBody>
          <a:bodyPr>
            <a:normAutofit/>
          </a:bodyPr>
          <a:lstStyle/>
          <a:p>
            <a:r>
              <a:rPr lang="en-US" sz="2400" dirty="0"/>
              <a:t>Q10. List all possible combinations of players and teams, but only show those where the player’s nationality matches the team’s country. Display player name, nationality, team name, and country. </a:t>
            </a:r>
            <a:r>
              <a:rPr lang="en-US" sz="2400" u="sng" dirty="0"/>
              <a:t>Cross join</a:t>
            </a:r>
            <a:r>
              <a:rPr lang="en-US" sz="2400" dirty="0"/>
              <a:t>:-</a:t>
            </a:r>
            <a:endParaRPr lang="en-IN" sz="2400" dirty="0"/>
          </a:p>
        </p:txBody>
      </p:sp>
    </p:spTree>
    <p:extLst>
      <p:ext uri="{BB962C8B-B14F-4D97-AF65-F5344CB8AC3E}">
        <p14:creationId xmlns:p14="http://schemas.microsoft.com/office/powerpoint/2010/main" val="832268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60C53798-FEC5-287A-2CD3-CB55DB7EB4D8}"/>
              </a:ext>
            </a:extLst>
          </p:cNvPr>
          <p:cNvPicPr>
            <a:picLocks noGrp="1" noChangeAspect="1"/>
          </p:cNvPicPr>
          <p:nvPr>
            <p:ph sz="half" idx="1"/>
          </p:nvPr>
        </p:nvPicPr>
        <p:blipFill>
          <a:blip r:embed="rId2"/>
          <a:stretch>
            <a:fillRect/>
          </a:stretch>
        </p:blipFill>
        <p:spPr>
          <a:xfrm>
            <a:off x="838201" y="2057400"/>
            <a:ext cx="5362574" cy="4271963"/>
          </a:xfrm>
          <a:prstGeom prst="rect">
            <a:avLst/>
          </a:prstGeom>
          <a:ln>
            <a:solidFill>
              <a:schemeClr val="accent2">
                <a:lumMod val="75000"/>
              </a:schemeClr>
            </a:solidFill>
          </a:ln>
        </p:spPr>
      </p:pic>
      <p:pic>
        <p:nvPicPr>
          <p:cNvPr id="7" name="Content Placeholder 6">
            <a:extLst>
              <a:ext uri="{FF2B5EF4-FFF2-40B4-BE49-F238E27FC236}">
                <a16:creationId xmlns:a16="http://schemas.microsoft.com/office/drawing/2014/main" id="{24F553AF-1F84-1EC7-724F-ED590A32177D}"/>
              </a:ext>
            </a:extLst>
          </p:cNvPr>
          <p:cNvPicPr>
            <a:picLocks noGrp="1" noChangeAspect="1"/>
          </p:cNvPicPr>
          <p:nvPr>
            <p:ph sz="half" idx="2"/>
          </p:nvPr>
        </p:nvPicPr>
        <p:blipFill>
          <a:blip r:embed="rId3"/>
          <a:stretch>
            <a:fillRect/>
          </a:stretch>
        </p:blipFill>
        <p:spPr>
          <a:xfrm>
            <a:off x="6657975" y="2057400"/>
            <a:ext cx="4429126" cy="4271963"/>
          </a:xfrm>
          <a:prstGeom prst="rect">
            <a:avLst/>
          </a:prstGeom>
          <a:ln>
            <a:solidFill>
              <a:schemeClr val="accent2">
                <a:lumMod val="75000"/>
              </a:schemeClr>
            </a:solidFill>
          </a:ln>
        </p:spPr>
      </p:pic>
      <p:sp>
        <p:nvSpPr>
          <p:cNvPr id="5" name="Title 1">
            <a:extLst>
              <a:ext uri="{FF2B5EF4-FFF2-40B4-BE49-F238E27FC236}">
                <a16:creationId xmlns:a16="http://schemas.microsoft.com/office/drawing/2014/main" id="{CB810D06-6884-8690-A207-268A2D9C6E9E}"/>
              </a:ext>
            </a:extLst>
          </p:cNvPr>
          <p:cNvSpPr>
            <a:spLocks noGrp="1"/>
          </p:cNvSpPr>
          <p:nvPr>
            <p:ph type="title"/>
          </p:nvPr>
        </p:nvSpPr>
        <p:spPr>
          <a:xfrm>
            <a:off x="838200" y="365125"/>
            <a:ext cx="10515600" cy="1325563"/>
          </a:xfrm>
          <a:solidFill>
            <a:schemeClr val="accent2">
              <a:lumMod val="60000"/>
              <a:lumOff val="40000"/>
            </a:schemeClr>
          </a:solidFill>
          <a:ln>
            <a:solidFill>
              <a:schemeClr val="accent2">
                <a:lumMod val="75000"/>
              </a:schemeClr>
            </a:solidFill>
          </a:ln>
        </p:spPr>
        <p:txBody>
          <a:bodyPr>
            <a:normAutofit/>
          </a:bodyPr>
          <a:lstStyle/>
          <a:p>
            <a:r>
              <a:rPr lang="en-US" sz="2400" dirty="0"/>
              <a:t>Q11. </a:t>
            </a:r>
            <a:r>
              <a:rPr lang="en-US" sz="2700" dirty="0"/>
              <a:t>Write a query to display the player's name and team name of all players whose age is between the minimum and maximum ages of players in the USA team. </a:t>
            </a:r>
            <a:endParaRPr lang="en-IN" sz="2700" dirty="0"/>
          </a:p>
        </p:txBody>
      </p:sp>
    </p:spTree>
    <p:extLst>
      <p:ext uri="{BB962C8B-B14F-4D97-AF65-F5344CB8AC3E}">
        <p14:creationId xmlns:p14="http://schemas.microsoft.com/office/powerpoint/2010/main" val="1310905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7653ADDE-53F0-0AEF-1D2D-8E8A393FBF7D}"/>
              </a:ext>
            </a:extLst>
          </p:cNvPr>
          <p:cNvPicPr>
            <a:picLocks noGrp="1" noChangeAspect="1"/>
          </p:cNvPicPr>
          <p:nvPr>
            <p:ph sz="half" idx="1"/>
          </p:nvPr>
        </p:nvPicPr>
        <p:blipFill>
          <a:blip r:embed="rId2"/>
          <a:stretch>
            <a:fillRect/>
          </a:stretch>
        </p:blipFill>
        <p:spPr>
          <a:xfrm>
            <a:off x="838201" y="1825626"/>
            <a:ext cx="4519612" cy="4351338"/>
          </a:xfrm>
          <a:prstGeom prst="rect">
            <a:avLst/>
          </a:prstGeom>
          <a:ln>
            <a:solidFill>
              <a:schemeClr val="accent2">
                <a:lumMod val="75000"/>
              </a:schemeClr>
            </a:solidFill>
          </a:ln>
        </p:spPr>
      </p:pic>
      <p:pic>
        <p:nvPicPr>
          <p:cNvPr id="10" name="Content Placeholder 9">
            <a:extLst>
              <a:ext uri="{FF2B5EF4-FFF2-40B4-BE49-F238E27FC236}">
                <a16:creationId xmlns:a16="http://schemas.microsoft.com/office/drawing/2014/main" id="{1687A5A4-BD62-6800-A827-CD5EEB53030C}"/>
              </a:ext>
            </a:extLst>
          </p:cNvPr>
          <p:cNvPicPr>
            <a:picLocks noGrp="1" noChangeAspect="1"/>
          </p:cNvPicPr>
          <p:nvPr>
            <p:ph sz="half" idx="2"/>
          </p:nvPr>
        </p:nvPicPr>
        <p:blipFill>
          <a:blip r:embed="rId3"/>
          <a:stretch>
            <a:fillRect/>
          </a:stretch>
        </p:blipFill>
        <p:spPr>
          <a:xfrm>
            <a:off x="5957887" y="1825626"/>
            <a:ext cx="5057775" cy="4351337"/>
          </a:xfrm>
          <a:prstGeom prst="rect">
            <a:avLst/>
          </a:prstGeom>
          <a:ln>
            <a:solidFill>
              <a:schemeClr val="accent2">
                <a:lumMod val="75000"/>
              </a:schemeClr>
            </a:solidFill>
          </a:ln>
        </p:spPr>
      </p:pic>
      <p:sp>
        <p:nvSpPr>
          <p:cNvPr id="6" name="Title 1">
            <a:extLst>
              <a:ext uri="{FF2B5EF4-FFF2-40B4-BE49-F238E27FC236}">
                <a16:creationId xmlns:a16="http://schemas.microsoft.com/office/drawing/2014/main" id="{5ECD97A2-9A71-03ED-6810-F29D570E0DD2}"/>
              </a:ext>
            </a:extLst>
          </p:cNvPr>
          <p:cNvSpPr>
            <a:spLocks noGrp="1"/>
          </p:cNvSpPr>
          <p:nvPr>
            <p:ph type="title"/>
          </p:nvPr>
        </p:nvSpPr>
        <p:spPr>
          <a:xfrm>
            <a:off x="838200" y="365125"/>
            <a:ext cx="10515600" cy="1325563"/>
          </a:xfrm>
          <a:solidFill>
            <a:schemeClr val="accent2">
              <a:lumMod val="60000"/>
              <a:lumOff val="40000"/>
            </a:schemeClr>
          </a:solidFill>
          <a:ln>
            <a:solidFill>
              <a:schemeClr val="accent2">
                <a:lumMod val="75000"/>
              </a:schemeClr>
            </a:solidFill>
          </a:ln>
        </p:spPr>
        <p:txBody>
          <a:bodyPr>
            <a:normAutofit/>
          </a:bodyPr>
          <a:lstStyle/>
          <a:p>
            <a:r>
              <a:rPr lang="en-US" sz="2400" dirty="0"/>
              <a:t>Q12. Write a query to display all players whose role does not include “Coach” and whose player name has the letter ‘</a:t>
            </a:r>
            <a:r>
              <a:rPr lang="en-US" sz="2400" dirty="0" err="1"/>
              <a:t>i</a:t>
            </a:r>
            <a:r>
              <a:rPr lang="en-US" sz="2400" dirty="0"/>
              <a:t>’ as the second last character.</a:t>
            </a:r>
            <a:br>
              <a:rPr lang="en-US" sz="2400" dirty="0"/>
            </a:br>
            <a:r>
              <a:rPr lang="en-US" sz="2400" dirty="0"/>
              <a:t> </a:t>
            </a:r>
            <a:endParaRPr lang="en-IN" sz="2400" dirty="0"/>
          </a:p>
        </p:txBody>
      </p:sp>
    </p:spTree>
    <p:extLst>
      <p:ext uri="{BB962C8B-B14F-4D97-AF65-F5344CB8AC3E}">
        <p14:creationId xmlns:p14="http://schemas.microsoft.com/office/powerpoint/2010/main" val="1073747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10E83AF4-C3BC-98E3-95C1-6F5A23E52489}"/>
              </a:ext>
            </a:extLst>
          </p:cNvPr>
          <p:cNvPicPr>
            <a:picLocks noGrp="1" noChangeAspect="1"/>
          </p:cNvPicPr>
          <p:nvPr>
            <p:ph sz="half" idx="2"/>
          </p:nvPr>
        </p:nvPicPr>
        <p:blipFill>
          <a:blip r:embed="rId2"/>
          <a:stretch>
            <a:fillRect/>
          </a:stretch>
        </p:blipFill>
        <p:spPr>
          <a:xfrm>
            <a:off x="6286500" y="2100263"/>
            <a:ext cx="4220164" cy="4214812"/>
          </a:xfrm>
          <a:prstGeom prst="rect">
            <a:avLst/>
          </a:prstGeom>
          <a:ln>
            <a:solidFill>
              <a:schemeClr val="accent2">
                <a:lumMod val="75000"/>
              </a:schemeClr>
            </a:solidFill>
          </a:ln>
        </p:spPr>
      </p:pic>
      <p:sp>
        <p:nvSpPr>
          <p:cNvPr id="5" name="Title 1">
            <a:extLst>
              <a:ext uri="{FF2B5EF4-FFF2-40B4-BE49-F238E27FC236}">
                <a16:creationId xmlns:a16="http://schemas.microsoft.com/office/drawing/2014/main" id="{1D1DB19A-A39F-5928-7C8F-41AAF23231B6}"/>
              </a:ext>
            </a:extLst>
          </p:cNvPr>
          <p:cNvSpPr>
            <a:spLocks noGrp="1"/>
          </p:cNvSpPr>
          <p:nvPr>
            <p:ph type="title"/>
          </p:nvPr>
        </p:nvSpPr>
        <p:spPr>
          <a:xfrm>
            <a:off x="838200" y="365125"/>
            <a:ext cx="10515600" cy="1325563"/>
          </a:xfrm>
          <a:solidFill>
            <a:schemeClr val="accent2">
              <a:lumMod val="60000"/>
              <a:lumOff val="40000"/>
            </a:schemeClr>
          </a:solidFill>
          <a:ln>
            <a:solidFill>
              <a:schemeClr val="accent2">
                <a:lumMod val="75000"/>
              </a:schemeClr>
            </a:solidFill>
          </a:ln>
        </p:spPr>
        <p:txBody>
          <a:bodyPr>
            <a:normAutofit/>
          </a:bodyPr>
          <a:lstStyle/>
          <a:p>
            <a:r>
              <a:rPr lang="en-US" sz="2400" dirty="0"/>
              <a:t>Q13. Write a query to display the team name along with country for all teams that are participating in tournaments with a prize pool greater than 50000. </a:t>
            </a:r>
            <a:endParaRPr lang="en-IN" sz="2400" dirty="0"/>
          </a:p>
        </p:txBody>
      </p:sp>
      <p:pic>
        <p:nvPicPr>
          <p:cNvPr id="13" name="Content Placeholder 12">
            <a:extLst>
              <a:ext uri="{FF2B5EF4-FFF2-40B4-BE49-F238E27FC236}">
                <a16:creationId xmlns:a16="http://schemas.microsoft.com/office/drawing/2014/main" id="{A51475D7-975A-D2AF-6B49-2D994FA4005C}"/>
              </a:ext>
            </a:extLst>
          </p:cNvPr>
          <p:cNvPicPr>
            <a:picLocks noGrp="1" noChangeAspect="1"/>
          </p:cNvPicPr>
          <p:nvPr>
            <p:ph sz="half" idx="1"/>
          </p:nvPr>
        </p:nvPicPr>
        <p:blipFill>
          <a:blip r:embed="rId3"/>
          <a:stretch>
            <a:fillRect/>
          </a:stretch>
        </p:blipFill>
        <p:spPr>
          <a:xfrm>
            <a:off x="838200" y="2100262"/>
            <a:ext cx="4776787" cy="3786187"/>
          </a:xfrm>
          <a:prstGeom prst="rect">
            <a:avLst/>
          </a:prstGeom>
          <a:ln>
            <a:solidFill>
              <a:schemeClr val="accent2">
                <a:lumMod val="75000"/>
              </a:schemeClr>
            </a:solidFill>
          </a:ln>
        </p:spPr>
      </p:pic>
    </p:spTree>
    <p:extLst>
      <p:ext uri="{BB962C8B-B14F-4D97-AF65-F5344CB8AC3E}">
        <p14:creationId xmlns:p14="http://schemas.microsoft.com/office/powerpoint/2010/main" val="1495045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D15EF7-7F54-59FF-75C9-197AA47D003C}"/>
              </a:ext>
            </a:extLst>
          </p:cNvPr>
          <p:cNvSpPr>
            <a:spLocks noGrp="1"/>
          </p:cNvSpPr>
          <p:nvPr>
            <p:ph sz="half" idx="1"/>
          </p:nvPr>
        </p:nvSpPr>
        <p:spPr>
          <a:xfrm>
            <a:off x="838200" y="1825625"/>
            <a:ext cx="5181600" cy="3060700"/>
          </a:xfrm>
          <a:ln>
            <a:solidFill>
              <a:schemeClr val="accent2">
                <a:lumMod val="75000"/>
              </a:schemeClr>
            </a:solidFill>
          </a:ln>
        </p:spPr>
        <p:txBody>
          <a:bodyPr/>
          <a:lstStyle/>
          <a:p>
            <a:pPr marL="0" indent="0">
              <a:buNone/>
            </a:pPr>
            <a:r>
              <a:rPr lang="en-US" dirty="0"/>
              <a:t>SELECT player_name, role, team_id</a:t>
            </a:r>
          </a:p>
          <a:p>
            <a:pPr marL="0" indent="0">
              <a:buNone/>
            </a:pPr>
            <a:r>
              <a:rPr lang="en-US" dirty="0"/>
              <a:t>FROM Players</a:t>
            </a:r>
          </a:p>
          <a:p>
            <a:pPr marL="0" indent="0">
              <a:buNone/>
            </a:pPr>
            <a:r>
              <a:rPr lang="en-US" dirty="0"/>
              <a:t>WHERE role &lt;&gt; 'Coach'</a:t>
            </a:r>
          </a:p>
          <a:p>
            <a:pPr marL="0" indent="0">
              <a:buNone/>
            </a:pPr>
            <a:r>
              <a:rPr lang="en-US" dirty="0"/>
              <a:t>  AND SUBSTRING(player_name, -2, 1) = 'e';</a:t>
            </a:r>
          </a:p>
          <a:p>
            <a:pPr marL="0" indent="0">
              <a:buNone/>
            </a:pPr>
            <a:endParaRPr lang="en-IN" dirty="0"/>
          </a:p>
        </p:txBody>
      </p:sp>
      <p:pic>
        <p:nvPicPr>
          <p:cNvPr id="7" name="Content Placeholder 6">
            <a:extLst>
              <a:ext uri="{FF2B5EF4-FFF2-40B4-BE49-F238E27FC236}">
                <a16:creationId xmlns:a16="http://schemas.microsoft.com/office/drawing/2014/main" id="{F89223C0-5EF3-ACC5-67E2-3ECA927E4656}"/>
              </a:ext>
            </a:extLst>
          </p:cNvPr>
          <p:cNvPicPr>
            <a:picLocks noGrp="1" noChangeAspect="1"/>
          </p:cNvPicPr>
          <p:nvPr>
            <p:ph sz="half" idx="2"/>
          </p:nvPr>
        </p:nvPicPr>
        <p:blipFill>
          <a:blip r:embed="rId2"/>
          <a:stretch>
            <a:fillRect/>
          </a:stretch>
        </p:blipFill>
        <p:spPr>
          <a:xfrm>
            <a:off x="6372225" y="1825625"/>
            <a:ext cx="4800600" cy="4126558"/>
          </a:xfrm>
          <a:prstGeom prst="rect">
            <a:avLst/>
          </a:prstGeom>
          <a:ln>
            <a:solidFill>
              <a:schemeClr val="accent2">
                <a:lumMod val="75000"/>
              </a:schemeClr>
            </a:solidFill>
          </a:ln>
        </p:spPr>
      </p:pic>
      <p:sp>
        <p:nvSpPr>
          <p:cNvPr id="5" name="Title 1">
            <a:extLst>
              <a:ext uri="{FF2B5EF4-FFF2-40B4-BE49-F238E27FC236}">
                <a16:creationId xmlns:a16="http://schemas.microsoft.com/office/drawing/2014/main" id="{DC573216-B2F7-8C17-CD9C-95F240D1C653}"/>
              </a:ext>
            </a:extLst>
          </p:cNvPr>
          <p:cNvSpPr>
            <a:spLocks noGrp="1"/>
          </p:cNvSpPr>
          <p:nvPr>
            <p:ph type="title"/>
          </p:nvPr>
        </p:nvSpPr>
        <p:spPr>
          <a:xfrm>
            <a:off x="838200" y="365125"/>
            <a:ext cx="10515600" cy="1325563"/>
          </a:xfrm>
          <a:solidFill>
            <a:schemeClr val="accent2">
              <a:lumMod val="60000"/>
              <a:lumOff val="40000"/>
            </a:schemeClr>
          </a:solidFill>
          <a:ln>
            <a:solidFill>
              <a:schemeClr val="accent2">
                <a:lumMod val="75000"/>
              </a:schemeClr>
            </a:solidFill>
          </a:ln>
        </p:spPr>
        <p:txBody>
          <a:bodyPr>
            <a:normAutofit/>
          </a:bodyPr>
          <a:lstStyle/>
          <a:p>
            <a:r>
              <a:rPr lang="en-US" sz="2400" dirty="0"/>
              <a:t>Q14. Display all players whose player_name has the letter ‘2’ as the  last character and who are not Coaches. </a:t>
            </a:r>
            <a:endParaRPr lang="en-IN" sz="2400" dirty="0"/>
          </a:p>
        </p:txBody>
      </p:sp>
    </p:spTree>
    <p:extLst>
      <p:ext uri="{BB962C8B-B14F-4D97-AF65-F5344CB8AC3E}">
        <p14:creationId xmlns:p14="http://schemas.microsoft.com/office/powerpoint/2010/main" val="2642335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9A724E85-BBD0-3855-3D8B-F2509D1A4189}"/>
              </a:ext>
            </a:extLst>
          </p:cNvPr>
          <p:cNvPicPr>
            <a:picLocks noGrp="1" noChangeAspect="1"/>
          </p:cNvPicPr>
          <p:nvPr>
            <p:ph sz="half" idx="2"/>
          </p:nvPr>
        </p:nvPicPr>
        <p:blipFill>
          <a:blip r:embed="rId3"/>
          <a:stretch>
            <a:fillRect/>
          </a:stretch>
        </p:blipFill>
        <p:spPr>
          <a:xfrm>
            <a:off x="6982248" y="1946367"/>
            <a:ext cx="4238745" cy="3526969"/>
          </a:xfrm>
          <a:prstGeom prst="rect">
            <a:avLst/>
          </a:prstGeom>
          <a:ln>
            <a:solidFill>
              <a:schemeClr val="tx1"/>
            </a:solidFill>
          </a:ln>
        </p:spPr>
      </p:pic>
      <p:sp>
        <p:nvSpPr>
          <p:cNvPr id="5" name="Title 1">
            <a:extLst>
              <a:ext uri="{FF2B5EF4-FFF2-40B4-BE49-F238E27FC236}">
                <a16:creationId xmlns:a16="http://schemas.microsoft.com/office/drawing/2014/main" id="{F7D271F5-A7BA-C79B-8686-D790123A83DA}"/>
              </a:ext>
            </a:extLst>
          </p:cNvPr>
          <p:cNvSpPr>
            <a:spLocks noGrp="1"/>
          </p:cNvSpPr>
          <p:nvPr>
            <p:ph type="title"/>
          </p:nvPr>
        </p:nvSpPr>
        <p:spPr>
          <a:xfrm>
            <a:off x="838200" y="365125"/>
            <a:ext cx="10515600" cy="1189355"/>
          </a:xfrm>
          <a:solidFill>
            <a:schemeClr val="accent2">
              <a:lumMod val="60000"/>
              <a:lumOff val="40000"/>
            </a:schemeClr>
          </a:solidFill>
          <a:ln>
            <a:solidFill>
              <a:schemeClr val="accent2">
                <a:lumMod val="75000"/>
              </a:schemeClr>
            </a:solidFill>
          </a:ln>
        </p:spPr>
        <p:txBody>
          <a:bodyPr>
            <a:normAutofit fontScale="90000"/>
          </a:bodyPr>
          <a:lstStyle/>
          <a:p>
            <a:r>
              <a:rPr lang="en-US" sz="2400" dirty="0"/>
              <a:t>Q15. Find the team(s) that have total wins greater than the average wins of teams from the   same country, and whose founding year is earlier than the youngest team from a different country with maximum wins. Display the teams name, country, founded year, and total wins.</a:t>
            </a:r>
            <a:endParaRPr lang="en-IN" sz="2400" dirty="0"/>
          </a:p>
        </p:txBody>
      </p:sp>
      <p:pic>
        <p:nvPicPr>
          <p:cNvPr id="9" name="Content Placeholder 8">
            <a:extLst>
              <a:ext uri="{FF2B5EF4-FFF2-40B4-BE49-F238E27FC236}">
                <a16:creationId xmlns:a16="http://schemas.microsoft.com/office/drawing/2014/main" id="{8C14E098-C883-376F-CBC2-EAAE36029266}"/>
              </a:ext>
            </a:extLst>
          </p:cNvPr>
          <p:cNvPicPr>
            <a:picLocks noGrp="1" noChangeAspect="1"/>
          </p:cNvPicPr>
          <p:nvPr>
            <p:ph sz="half" idx="1"/>
          </p:nvPr>
        </p:nvPicPr>
        <p:blipFill>
          <a:blip r:embed="rId4"/>
          <a:stretch>
            <a:fillRect/>
          </a:stretch>
        </p:blipFill>
        <p:spPr>
          <a:xfrm>
            <a:off x="738018" y="1946368"/>
            <a:ext cx="5466839" cy="4230595"/>
          </a:xfrm>
          <a:prstGeom prst="rect">
            <a:avLst/>
          </a:prstGeom>
          <a:ln>
            <a:solidFill>
              <a:schemeClr val="accent2"/>
            </a:solidFill>
          </a:ln>
        </p:spPr>
      </p:pic>
      <p:pic>
        <p:nvPicPr>
          <p:cNvPr id="13" name="Picture 12">
            <a:extLst>
              <a:ext uri="{FF2B5EF4-FFF2-40B4-BE49-F238E27FC236}">
                <a16:creationId xmlns:a16="http://schemas.microsoft.com/office/drawing/2014/main" id="{FAF05195-3698-3338-6C29-CD6D673B6D59}"/>
              </a:ext>
            </a:extLst>
          </p:cNvPr>
          <p:cNvPicPr>
            <a:picLocks noChangeAspect="1"/>
          </p:cNvPicPr>
          <p:nvPr/>
        </p:nvPicPr>
        <p:blipFill>
          <a:blip r:embed="rId5"/>
          <a:stretch>
            <a:fillRect/>
          </a:stretch>
        </p:blipFill>
        <p:spPr>
          <a:xfrm>
            <a:off x="6982248" y="5473336"/>
            <a:ext cx="4238745" cy="529425"/>
          </a:xfrm>
          <a:prstGeom prst="rect">
            <a:avLst/>
          </a:prstGeom>
          <a:ln>
            <a:solidFill>
              <a:schemeClr val="tx1"/>
            </a:solidFill>
          </a:ln>
        </p:spPr>
      </p:pic>
    </p:spTree>
    <p:extLst>
      <p:ext uri="{BB962C8B-B14F-4D97-AF65-F5344CB8AC3E}">
        <p14:creationId xmlns:p14="http://schemas.microsoft.com/office/powerpoint/2010/main" val="4056110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2D0C99-C9A4-FDCF-E23E-DBE9C10E88F6}"/>
              </a:ext>
            </a:extLst>
          </p:cNvPr>
          <p:cNvPicPr>
            <a:picLocks noChangeAspect="1"/>
          </p:cNvPicPr>
          <p:nvPr/>
        </p:nvPicPr>
        <p:blipFill>
          <a:blip r:embed="rId2"/>
          <a:stretch>
            <a:fillRect/>
          </a:stretch>
        </p:blipFill>
        <p:spPr>
          <a:xfrm>
            <a:off x="0" y="0"/>
            <a:ext cx="6472238" cy="6858000"/>
          </a:xfrm>
          <a:prstGeom prst="rect">
            <a:avLst/>
          </a:prstGeom>
        </p:spPr>
      </p:pic>
      <p:sp>
        <p:nvSpPr>
          <p:cNvPr id="3" name="TextBox 2">
            <a:extLst>
              <a:ext uri="{FF2B5EF4-FFF2-40B4-BE49-F238E27FC236}">
                <a16:creationId xmlns:a16="http://schemas.microsoft.com/office/drawing/2014/main" id="{53F6A292-C45F-D02E-1829-29C3F96D024D}"/>
              </a:ext>
            </a:extLst>
          </p:cNvPr>
          <p:cNvSpPr txBox="1"/>
          <p:nvPr/>
        </p:nvSpPr>
        <p:spPr>
          <a:xfrm>
            <a:off x="7172325" y="2628901"/>
            <a:ext cx="3657600" cy="923330"/>
          </a:xfrm>
          <a:prstGeom prst="rect">
            <a:avLst/>
          </a:prstGeom>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5400" dirty="0">
                <a:ln w="0"/>
                <a:solidFill>
                  <a:schemeClr val="accent1"/>
                </a:solidFill>
                <a:effectLst>
                  <a:outerShdw blurRad="38100" dist="25400" dir="5400000" algn="ctr" rotWithShape="0">
                    <a:srgbClr val="6E747A">
                      <a:alpha val="43000"/>
                    </a:srgbClr>
                  </a:outerShdw>
                </a:effectLst>
              </a:rPr>
              <a:t>THANK YOU</a:t>
            </a:r>
            <a:endParaRPr lang="en-IN" sz="5400" dirty="0">
              <a:ln w="0"/>
              <a:solidFill>
                <a:schemeClr val="accent1"/>
              </a:solidFill>
              <a:effectLst>
                <a:outerShdw blurRad="38100" dist="25400" dir="5400000" algn="ctr" rotWithShape="0">
                  <a:srgbClr val="6E747A">
                    <a:alpha val="43000"/>
                  </a:srgbClr>
                </a:outerShdw>
              </a:effectLst>
            </a:endParaRPr>
          </a:p>
        </p:txBody>
      </p:sp>
      <p:pic>
        <p:nvPicPr>
          <p:cNvPr id="4" name="Picture 8">
            <a:extLst>
              <a:ext uri="{FF2B5EF4-FFF2-40B4-BE49-F238E27FC236}">
                <a16:creationId xmlns:a16="http://schemas.microsoft.com/office/drawing/2014/main" id="{5B7F1370-577C-42D1-21BA-C4A0B956D00C}"/>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520" b="10520"/>
          <a:stretch>
            <a:fillRect/>
          </a:stretch>
        </p:blipFill>
        <p:spPr bwMode="auto">
          <a:xfrm>
            <a:off x="7458075" y="562368"/>
            <a:ext cx="2557463" cy="1537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283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1739</TotalTime>
  <Words>1345</Words>
  <Application>Microsoft Office PowerPoint</Application>
  <PresentationFormat>Widescreen</PresentationFormat>
  <Paragraphs>120</Paragraphs>
  <Slides>29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Wingdings</vt:lpstr>
      <vt:lpstr>Office Theme</vt:lpstr>
      <vt:lpstr>PowerPoint Presentation</vt:lpstr>
      <vt:lpstr>TITLE :-ESPORTS MANAGEMENT SYSTEM </vt:lpstr>
      <vt:lpstr>PowerPoint Presentation</vt:lpstr>
      <vt:lpstr>OBJECTIVES</vt:lpstr>
      <vt:lpstr>Database Design / Database Schema</vt:lpstr>
      <vt:lpstr>TABLE CREEATION SQL QUERY OF ALL 5 TABLES  SYNTAX:-</vt:lpstr>
      <vt:lpstr>ER DIAGRAM</vt:lpstr>
      <vt:lpstr>Insert Data into Columns of Table Using This Syntax</vt:lpstr>
      <vt:lpstr>PowerPoint Presentation</vt:lpstr>
      <vt:lpstr>PowerPoint Presentation</vt:lpstr>
      <vt:lpstr>PowerPoint Presentation</vt:lpstr>
      <vt:lpstr>PowerPoint Presentation</vt:lpstr>
      <vt:lpstr>To add entries (such as new columns) to the players table using the ALTER function in SQL, the correct approach is to use the ALTER TABLE statement. Note that ALTER TABLE is used for changing the structure of the table (for example, adding/removing columns), not for inserting records. To insert data (entries), use the INSERT INTO statement.</vt:lpstr>
      <vt:lpstr>Q1. Find the average age of players, and also the youngest and oldest player.</vt:lpstr>
      <vt:lpstr>Q2. Write a query of  the top 5 teams with the highest total wins.</vt:lpstr>
      <vt:lpstr>Q3. Find the tournaments whose prize pool is greater than the average prize pool of all tournaments. Display the tournament name, location, and prize pool. Query:  </vt:lpstr>
      <vt:lpstr>Q4. Write a query to find the total wins of teams for each country and also show the average founding year of the teams. Sort the results by total wins from highest to lowest.</vt:lpstr>
      <vt:lpstr>Q5. Find the locations where the total prize pool of all tournaments held there is greater than 1000000. Display the location and the total prize pool.</vt:lpstr>
      <vt:lpstr>Q6. Find players whose role does NOT contain 'Captain' using NOT LIKE. </vt:lpstr>
      <vt:lpstr>Q7.Find the teams that have more total wins than the average wins of their country and were founded before the newest team with maximum wins from another country. Display the team name, country, founding year, and total wins.</vt:lpstr>
      <vt:lpstr>Q8. Find the countries where the total wins of teams is greater than the average total wins of all teams across all countries. Display country name and total wins.</vt:lpstr>
      <vt:lpstr>Q9. Write a query to display tournament name, game name, and location where the prize pool is greater than 1,00,000 and the game genre is 'FPS’.</vt:lpstr>
      <vt:lpstr>Q10. List all possible combinations of players and teams, but only show those where the player’s nationality matches the team’s country. Display player name, nationality, team name, and country. Cross join:-</vt:lpstr>
      <vt:lpstr>Q11. Write a query to display the player's name and team name of all players whose age is between the minimum and maximum ages of players in the USA team. </vt:lpstr>
      <vt:lpstr>Q12. Write a query to display all players whose role does not include “Coach” and whose player name has the letter ‘i’ as the second last character.  </vt:lpstr>
      <vt:lpstr>Q13. Write a query to display the team name along with country for all teams that are participating in tournaments with a prize pool greater than 50000. </vt:lpstr>
      <vt:lpstr>Q14. Display all players whose player_name has the letter ‘2’ as the  last character and who are not Coaches. </vt:lpstr>
      <vt:lpstr>Q15. Find the team(s) that have total wins greater than the average wins of teams from the   same country, and whose founding year is earlier than the youngest team from a different country with maximum wins. Display the teams name, country, founded year, and total wins.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Manjeet Gupta</dc:creator>
  <cp:lastModifiedBy>Manjeet Gupta</cp:lastModifiedBy>
  <cp:revision>60</cp:revision>
  <dcterms:created xsi:type="dcterms:W3CDTF">2025-09-25T10:42:17Z</dcterms:created>
  <dcterms:modified xsi:type="dcterms:W3CDTF">2025-11-23T06:42:25Z</dcterms:modified>
</cp:coreProperties>
</file>